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9" r:id="rId11"/>
    <p:sldId id="266" r:id="rId12"/>
    <p:sldId id="267" r:id="rId13"/>
    <p:sldId id="265" r:id="rId14"/>
    <p:sldId id="268" r:id="rId15"/>
  </p:sldIdLst>
  <p:sldSz cx="14630400" cy="8229600"/>
  <p:notesSz cx="8229600" cy="14630400"/>
  <p:embeddedFontLst>
    <p:embeddedFont>
      <p:font typeface="Mukta Light" panose="020B0604020202020204" charset="0"/>
      <p:regular r:id="rId17"/>
    </p:embeddedFont>
    <p:embeddedFont>
      <p:font typeface="Prompt Light" panose="00000400000000000000" pitchFamily="2" charset="-34"/>
      <p:regular r:id="rId18"/>
      <p:italic r:id="rId19"/>
    </p:embeddedFont>
    <p:embeddedFont>
      <p:font typeface="Prompt Medium" panose="00000600000000000000" pitchFamily="2" charset="-34"/>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0B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9B2649-C1DE-4176-AE33-3283925A7C0C}" v="8" dt="2026-01-19T12:00:14.1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8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shen Robert" userId="b84da397c5b2fafc" providerId="LiveId" clId="{E9773A0E-2A09-4E2F-A917-C6448C26E1C6}"/>
    <pc:docChg chg="undo custSel addSld modSld sldOrd">
      <pc:chgData name="Goshen Robert" userId="b84da397c5b2fafc" providerId="LiveId" clId="{E9773A0E-2A09-4E2F-A917-C6448C26E1C6}" dt="2026-01-19T11:54:38.866" v="724" actId="1076"/>
      <pc:docMkLst>
        <pc:docMk/>
      </pc:docMkLst>
      <pc:sldChg chg="addSp modSp">
        <pc:chgData name="Goshen Robert" userId="b84da397c5b2fafc" providerId="LiveId" clId="{E9773A0E-2A09-4E2F-A917-C6448C26E1C6}" dt="2026-01-17T07:41:10.654" v="30"/>
        <pc:sldMkLst>
          <pc:docMk/>
          <pc:sldMk cId="0" sldId="256"/>
        </pc:sldMkLst>
        <pc:spChg chg="add mod">
          <ac:chgData name="Goshen Robert" userId="b84da397c5b2fafc" providerId="LiveId" clId="{E9773A0E-2A09-4E2F-A917-C6448C26E1C6}" dt="2026-01-17T07:41:10.654" v="30"/>
          <ac:spMkLst>
            <pc:docMk/>
            <pc:sldMk cId="0" sldId="256"/>
            <ac:spMk id="7" creationId="{CBB99BBF-0671-7E26-3FBD-B15EF4577E61}"/>
          </ac:spMkLst>
        </pc:spChg>
      </pc:sldChg>
      <pc:sldChg chg="addSp modSp mod">
        <pc:chgData name="Goshen Robert" userId="b84da397c5b2fafc" providerId="LiveId" clId="{E9773A0E-2A09-4E2F-A917-C6448C26E1C6}" dt="2026-01-17T07:41:28.664" v="32" actId="167"/>
        <pc:sldMkLst>
          <pc:docMk/>
          <pc:sldMk cId="0" sldId="257"/>
        </pc:sldMkLst>
        <pc:spChg chg="add mod ord">
          <ac:chgData name="Goshen Robert" userId="b84da397c5b2fafc" providerId="LiveId" clId="{E9773A0E-2A09-4E2F-A917-C6448C26E1C6}" dt="2026-01-17T07:41:28.664" v="32" actId="167"/>
          <ac:spMkLst>
            <pc:docMk/>
            <pc:sldMk cId="0" sldId="257"/>
            <ac:spMk id="13" creationId="{FCECF336-3E5E-9C4F-207E-20ABDE3883DC}"/>
          </ac:spMkLst>
        </pc:spChg>
      </pc:sldChg>
      <pc:sldChg chg="addSp modSp">
        <pc:chgData name="Goshen Robert" userId="b84da397c5b2fafc" providerId="LiveId" clId="{E9773A0E-2A09-4E2F-A917-C6448C26E1C6}" dt="2026-01-17T07:41:36.927" v="33"/>
        <pc:sldMkLst>
          <pc:docMk/>
          <pc:sldMk cId="0" sldId="258"/>
        </pc:sldMkLst>
        <pc:spChg chg="add mod">
          <ac:chgData name="Goshen Robert" userId="b84da397c5b2fafc" providerId="LiveId" clId="{E9773A0E-2A09-4E2F-A917-C6448C26E1C6}" dt="2026-01-17T07:41:36.927" v="33"/>
          <ac:spMkLst>
            <pc:docMk/>
            <pc:sldMk cId="0" sldId="258"/>
            <ac:spMk id="18" creationId="{E4E08BAA-6A4F-BF78-70AC-225B97D085A4}"/>
          </ac:spMkLst>
        </pc:spChg>
      </pc:sldChg>
      <pc:sldChg chg="addSp modSp mod">
        <pc:chgData name="Goshen Robert" userId="b84da397c5b2fafc" providerId="LiveId" clId="{E9773A0E-2A09-4E2F-A917-C6448C26E1C6}" dt="2026-01-17T07:41:47.405" v="35" actId="167"/>
        <pc:sldMkLst>
          <pc:docMk/>
          <pc:sldMk cId="0" sldId="259"/>
        </pc:sldMkLst>
        <pc:spChg chg="add mod ord">
          <ac:chgData name="Goshen Robert" userId="b84da397c5b2fafc" providerId="LiveId" clId="{E9773A0E-2A09-4E2F-A917-C6448C26E1C6}" dt="2026-01-17T07:41:47.405" v="35" actId="167"/>
          <ac:spMkLst>
            <pc:docMk/>
            <pc:sldMk cId="0" sldId="259"/>
            <ac:spMk id="16" creationId="{5475E783-57EF-C16B-701D-689CA50C3348}"/>
          </ac:spMkLst>
        </pc:spChg>
      </pc:sldChg>
      <pc:sldChg chg="addSp modSp">
        <pc:chgData name="Goshen Robert" userId="b84da397c5b2fafc" providerId="LiveId" clId="{E9773A0E-2A09-4E2F-A917-C6448C26E1C6}" dt="2026-01-17T07:42:09.366" v="36"/>
        <pc:sldMkLst>
          <pc:docMk/>
          <pc:sldMk cId="0" sldId="260"/>
        </pc:sldMkLst>
        <pc:spChg chg="add mod">
          <ac:chgData name="Goshen Robert" userId="b84da397c5b2fafc" providerId="LiveId" clId="{E9773A0E-2A09-4E2F-A917-C6448C26E1C6}" dt="2026-01-17T07:42:09.366" v="36"/>
          <ac:spMkLst>
            <pc:docMk/>
            <pc:sldMk cId="0" sldId="260"/>
            <ac:spMk id="17" creationId="{D67999F9-FB7D-58AD-FF2F-D30617E4B54A}"/>
          </ac:spMkLst>
        </pc:spChg>
      </pc:sldChg>
      <pc:sldChg chg="addSp modSp">
        <pc:chgData name="Goshen Robert" userId="b84da397c5b2fafc" providerId="LiveId" clId="{E9773A0E-2A09-4E2F-A917-C6448C26E1C6}" dt="2026-01-17T07:42:14.174" v="37"/>
        <pc:sldMkLst>
          <pc:docMk/>
          <pc:sldMk cId="0" sldId="261"/>
        </pc:sldMkLst>
        <pc:spChg chg="add mod">
          <ac:chgData name="Goshen Robert" userId="b84da397c5b2fafc" providerId="LiveId" clId="{E9773A0E-2A09-4E2F-A917-C6448C26E1C6}" dt="2026-01-17T07:42:14.174" v="37"/>
          <ac:spMkLst>
            <pc:docMk/>
            <pc:sldMk cId="0" sldId="261"/>
            <ac:spMk id="21" creationId="{A07966F8-D155-69F1-FEFB-D1863547D4B4}"/>
          </ac:spMkLst>
        </pc:spChg>
      </pc:sldChg>
      <pc:sldChg chg="addSp modSp">
        <pc:chgData name="Goshen Robert" userId="b84da397c5b2fafc" providerId="LiveId" clId="{E9773A0E-2A09-4E2F-A917-C6448C26E1C6}" dt="2026-01-17T07:42:18.617" v="38"/>
        <pc:sldMkLst>
          <pc:docMk/>
          <pc:sldMk cId="0" sldId="262"/>
        </pc:sldMkLst>
        <pc:spChg chg="add mod">
          <ac:chgData name="Goshen Robert" userId="b84da397c5b2fafc" providerId="LiveId" clId="{E9773A0E-2A09-4E2F-A917-C6448C26E1C6}" dt="2026-01-17T07:42:18.617" v="38"/>
          <ac:spMkLst>
            <pc:docMk/>
            <pc:sldMk cId="0" sldId="262"/>
            <ac:spMk id="35" creationId="{F62BC7D6-ECDB-2865-34FD-CA37295CC19E}"/>
          </ac:spMkLst>
        </pc:spChg>
      </pc:sldChg>
      <pc:sldChg chg="addSp modSp">
        <pc:chgData name="Goshen Robert" userId="b84da397c5b2fafc" providerId="LiveId" clId="{E9773A0E-2A09-4E2F-A917-C6448C26E1C6}" dt="2026-01-17T07:42:22.156" v="39"/>
        <pc:sldMkLst>
          <pc:docMk/>
          <pc:sldMk cId="0" sldId="263"/>
        </pc:sldMkLst>
        <pc:spChg chg="add mod">
          <ac:chgData name="Goshen Robert" userId="b84da397c5b2fafc" providerId="LiveId" clId="{E9773A0E-2A09-4E2F-A917-C6448C26E1C6}" dt="2026-01-17T07:42:22.156" v="39"/>
          <ac:spMkLst>
            <pc:docMk/>
            <pc:sldMk cId="0" sldId="263"/>
            <ac:spMk id="34" creationId="{9DB1F9A5-3FD9-252C-FBAC-4F8B47217B85}"/>
          </ac:spMkLst>
        </pc:spChg>
      </pc:sldChg>
      <pc:sldChg chg="addSp modSp">
        <pc:chgData name="Goshen Robert" userId="b84da397c5b2fafc" providerId="LiveId" clId="{E9773A0E-2A09-4E2F-A917-C6448C26E1C6}" dt="2026-01-17T07:42:25.903" v="40"/>
        <pc:sldMkLst>
          <pc:docMk/>
          <pc:sldMk cId="0" sldId="264"/>
        </pc:sldMkLst>
        <pc:spChg chg="add mod">
          <ac:chgData name="Goshen Robert" userId="b84da397c5b2fafc" providerId="LiveId" clId="{E9773A0E-2A09-4E2F-A917-C6448C26E1C6}" dt="2026-01-17T07:42:25.903" v="40"/>
          <ac:spMkLst>
            <pc:docMk/>
            <pc:sldMk cId="0" sldId="264"/>
            <ac:spMk id="26" creationId="{063CC84E-199D-39BC-4B94-CF12CCB34314}"/>
          </ac:spMkLst>
        </pc:spChg>
      </pc:sldChg>
      <pc:sldChg chg="addSp modSp ord">
        <pc:chgData name="Goshen Robert" userId="b84da397c5b2fafc" providerId="LiveId" clId="{E9773A0E-2A09-4E2F-A917-C6448C26E1C6}" dt="2026-01-17T09:32:05.084" v="442"/>
        <pc:sldMkLst>
          <pc:docMk/>
          <pc:sldMk cId="0" sldId="265"/>
        </pc:sldMkLst>
        <pc:spChg chg="add mod">
          <ac:chgData name="Goshen Robert" userId="b84da397c5b2fafc" providerId="LiveId" clId="{E9773A0E-2A09-4E2F-A917-C6448C26E1C6}" dt="2026-01-17T07:41:04.309" v="29"/>
          <ac:spMkLst>
            <pc:docMk/>
            <pc:sldMk cId="0" sldId="265"/>
            <ac:spMk id="18" creationId="{5CC1DAFD-E154-97A7-D422-BDFAEC723766}"/>
          </ac:spMkLst>
        </pc:spChg>
      </pc:sldChg>
      <pc:sldChg chg="addSp delSp modSp add mod ord">
        <pc:chgData name="Goshen Robert" userId="b84da397c5b2fafc" providerId="LiveId" clId="{E9773A0E-2A09-4E2F-A917-C6448C26E1C6}" dt="2026-01-17T07:54:14.157" v="389" actId="20577"/>
        <pc:sldMkLst>
          <pc:docMk/>
          <pc:sldMk cId="3344214190" sldId="266"/>
        </pc:sldMkLst>
        <pc:spChg chg="add mod">
          <ac:chgData name="Goshen Robert" userId="b84da397c5b2fafc" providerId="LiveId" clId="{E9773A0E-2A09-4E2F-A917-C6448C26E1C6}" dt="2026-01-17T07:40:38.370" v="28" actId="207"/>
          <ac:spMkLst>
            <pc:docMk/>
            <pc:sldMk cId="3344214190" sldId="266"/>
            <ac:spMk id="26" creationId="{8573C12F-DCF9-B845-E580-9800CCE5BBDB}"/>
          </ac:spMkLst>
        </pc:spChg>
        <pc:spChg chg="add mod">
          <ac:chgData name="Goshen Robert" userId="b84da397c5b2fafc" providerId="LiveId" clId="{E9773A0E-2A09-4E2F-A917-C6448C26E1C6}" dt="2026-01-17T07:47:57.278" v="118" actId="1076"/>
          <ac:spMkLst>
            <pc:docMk/>
            <pc:sldMk cId="3344214190" sldId="266"/>
            <ac:spMk id="31" creationId="{9FA80D03-B83A-5202-3E08-61E82219B7F9}"/>
          </ac:spMkLst>
        </pc:spChg>
        <pc:spChg chg="add mod">
          <ac:chgData name="Goshen Robert" userId="b84da397c5b2fafc" providerId="LiveId" clId="{E9773A0E-2A09-4E2F-A917-C6448C26E1C6}" dt="2026-01-17T07:54:14.157" v="389" actId="20577"/>
          <ac:spMkLst>
            <pc:docMk/>
            <pc:sldMk cId="3344214190" sldId="266"/>
            <ac:spMk id="32" creationId="{3C942850-9861-EAE8-5B12-09633353CA62}"/>
          </ac:spMkLst>
        </pc:spChg>
        <pc:picChg chg="add mod">
          <ac:chgData name="Goshen Robert" userId="b84da397c5b2fafc" providerId="LiveId" clId="{E9773A0E-2A09-4E2F-A917-C6448C26E1C6}" dt="2026-01-17T07:44:27.825" v="51" actId="1076"/>
          <ac:picMkLst>
            <pc:docMk/>
            <pc:sldMk cId="3344214190" sldId="266"/>
            <ac:picMk id="28" creationId="{3431226C-65B7-44D3-B7B0-60589B02F84A}"/>
          </ac:picMkLst>
        </pc:picChg>
        <pc:picChg chg="add mod">
          <ac:chgData name="Goshen Robert" userId="b84da397c5b2fafc" providerId="LiveId" clId="{E9773A0E-2A09-4E2F-A917-C6448C26E1C6}" dt="2026-01-17T07:44:32.225" v="52" actId="1076"/>
          <ac:picMkLst>
            <pc:docMk/>
            <pc:sldMk cId="3344214190" sldId="266"/>
            <ac:picMk id="30" creationId="{AC1F7A9B-57FB-8789-FB13-5EE220F0FB31}"/>
          </ac:picMkLst>
        </pc:picChg>
      </pc:sldChg>
      <pc:sldChg chg="addSp delSp modSp add mod">
        <pc:chgData name="Goshen Robert" userId="b84da397c5b2fafc" providerId="LiveId" clId="{E9773A0E-2A09-4E2F-A917-C6448C26E1C6}" dt="2026-01-17T07:55:04.534" v="440" actId="1076"/>
        <pc:sldMkLst>
          <pc:docMk/>
          <pc:sldMk cId="2981930139" sldId="267"/>
        </pc:sldMkLst>
        <pc:spChg chg="add del mod">
          <ac:chgData name="Goshen Robert" userId="b84da397c5b2fafc" providerId="LiveId" clId="{E9773A0E-2A09-4E2F-A917-C6448C26E1C6}" dt="2026-01-17T07:52:30.168" v="299" actId="1076"/>
          <ac:spMkLst>
            <pc:docMk/>
            <pc:sldMk cId="2981930139" sldId="267"/>
            <ac:spMk id="6" creationId="{A5A12F68-44B0-576B-94DD-E4C7B2F70215}"/>
          </ac:spMkLst>
        </pc:spChg>
        <pc:spChg chg="add mod">
          <ac:chgData name="Goshen Robert" userId="b84da397c5b2fafc" providerId="LiveId" clId="{E9773A0E-2A09-4E2F-A917-C6448C26E1C6}" dt="2026-01-17T07:55:04.534" v="440" actId="1076"/>
          <ac:spMkLst>
            <pc:docMk/>
            <pc:sldMk cId="2981930139" sldId="267"/>
            <ac:spMk id="7" creationId="{23E49860-840E-BE73-1782-A746C07203DB}"/>
          </ac:spMkLst>
        </pc:spChg>
        <pc:picChg chg="add mod">
          <ac:chgData name="Goshen Robert" userId="b84da397c5b2fafc" providerId="LiveId" clId="{E9773A0E-2A09-4E2F-A917-C6448C26E1C6}" dt="2026-01-17T07:45:18.456" v="58" actId="1076"/>
          <ac:picMkLst>
            <pc:docMk/>
            <pc:sldMk cId="2981930139" sldId="267"/>
            <ac:picMk id="3" creationId="{5B1A1022-4742-E384-D340-E6CD6A5D567B}"/>
          </ac:picMkLst>
        </pc:picChg>
        <pc:picChg chg="add mod">
          <ac:chgData name="Goshen Robert" userId="b84da397c5b2fafc" providerId="LiveId" clId="{E9773A0E-2A09-4E2F-A917-C6448C26E1C6}" dt="2026-01-17T07:45:13.618" v="57" actId="1076"/>
          <ac:picMkLst>
            <pc:docMk/>
            <pc:sldMk cId="2981930139" sldId="267"/>
            <ac:picMk id="5" creationId="{5F752110-9E6D-531C-67DD-B8DB406AB13E}"/>
          </ac:picMkLst>
        </pc:picChg>
      </pc:sldChg>
      <pc:sldChg chg="addSp modSp add mod">
        <pc:chgData name="Goshen Robert" userId="b84da397c5b2fafc" providerId="LiveId" clId="{E9773A0E-2A09-4E2F-A917-C6448C26E1C6}" dt="2026-01-19T11:54:38.866" v="724" actId="1076"/>
        <pc:sldMkLst>
          <pc:docMk/>
          <pc:sldMk cId="2009726626" sldId="268"/>
        </pc:sldMkLst>
        <pc:spChg chg="add mod">
          <ac:chgData name="Goshen Robert" userId="b84da397c5b2fafc" providerId="LiveId" clId="{E9773A0E-2A09-4E2F-A917-C6448C26E1C6}" dt="2026-01-19T11:54:38.866" v="724" actId="1076"/>
          <ac:spMkLst>
            <pc:docMk/>
            <pc:sldMk cId="2009726626" sldId="268"/>
            <ac:spMk id="2" creationId="{413670B1-2E1B-977C-BDAA-72D8142BE1E8}"/>
          </ac:spMkLst>
        </pc:spChg>
        <pc:picChg chg="add mod">
          <ac:chgData name="Goshen Robert" userId="b84da397c5b2fafc" providerId="LiveId" clId="{E9773A0E-2A09-4E2F-A917-C6448C26E1C6}" dt="2026-01-18T16:15:14.215" v="574" actId="1076"/>
          <ac:picMkLst>
            <pc:docMk/>
            <pc:sldMk cId="2009726626" sldId="268"/>
            <ac:picMk id="4" creationId="{59643393-9AB2-842A-A02B-8B35EF956077}"/>
          </ac:picMkLst>
        </pc:picChg>
        <pc:picChg chg="add mod">
          <ac:chgData name="Goshen Robert" userId="b84da397c5b2fafc" providerId="LiveId" clId="{E9773A0E-2A09-4E2F-A917-C6448C26E1C6}" dt="2026-01-18T16:15:08.649" v="573" actId="14100"/>
          <ac:picMkLst>
            <pc:docMk/>
            <pc:sldMk cId="2009726626" sldId="268"/>
            <ac:picMk id="6" creationId="{CDF56C48-6A71-2D83-F354-CB1E720CBB86}"/>
          </ac:picMkLst>
        </pc:picChg>
      </pc:sldChg>
      <pc:sldChg chg="addSp delSp modSp add mod ord">
        <pc:chgData name="Goshen Robert" userId="b84da397c5b2fafc" providerId="LiveId" clId="{E9773A0E-2A09-4E2F-A917-C6448C26E1C6}" dt="2026-01-18T16:25:24.033" v="721"/>
        <pc:sldMkLst>
          <pc:docMk/>
          <pc:sldMk cId="613101927" sldId="269"/>
        </pc:sldMkLst>
        <pc:spChg chg="mod">
          <ac:chgData name="Goshen Robert" userId="b84da397c5b2fafc" providerId="LiveId" clId="{E9773A0E-2A09-4E2F-A917-C6448C26E1C6}" dt="2026-01-18T16:23:09.351" v="695" actId="20577"/>
          <ac:spMkLst>
            <pc:docMk/>
            <pc:sldMk cId="613101927" sldId="269"/>
            <ac:spMk id="2" creationId="{32028D0C-D557-C80D-6B0C-CDFCFFD06A9A}"/>
          </ac:spMkLst>
        </pc:spChg>
        <pc:spChg chg="add mod">
          <ac:chgData name="Goshen Robert" userId="b84da397c5b2fafc" providerId="LiveId" clId="{E9773A0E-2A09-4E2F-A917-C6448C26E1C6}" dt="2026-01-18T16:25:09.610" v="718" actId="1076"/>
          <ac:spMkLst>
            <pc:docMk/>
            <pc:sldMk cId="613101927" sldId="269"/>
            <ac:spMk id="3" creationId="{F34ECF94-DE37-97D5-9594-8225BD4C5BF1}"/>
          </ac:spMkLst>
        </pc:spChg>
        <pc:picChg chg="del">
          <ac:chgData name="Goshen Robert" userId="b84da397c5b2fafc" providerId="LiveId" clId="{E9773A0E-2A09-4E2F-A917-C6448C26E1C6}" dt="2026-01-18T16:22:41.595" v="577" actId="478"/>
          <ac:picMkLst>
            <pc:docMk/>
            <pc:sldMk cId="613101927" sldId="269"/>
            <ac:picMk id="4" creationId="{C21DAEE9-1471-BA94-E0F1-33FB302D2157}"/>
          </ac:picMkLst>
        </pc:picChg>
        <pc:picChg chg="add mod">
          <ac:chgData name="Goshen Robert" userId="b84da397c5b2fafc" providerId="LiveId" clId="{E9773A0E-2A09-4E2F-A917-C6448C26E1C6}" dt="2026-01-18T16:25:13.631" v="719" actId="1076"/>
          <ac:picMkLst>
            <pc:docMk/>
            <pc:sldMk cId="613101927" sldId="269"/>
            <ac:picMk id="5" creationId="{26EBC4CF-560C-CA86-4CA3-00BDD44BA9D3}"/>
          </ac:picMkLst>
        </pc:picChg>
        <pc:picChg chg="del">
          <ac:chgData name="Goshen Robert" userId="b84da397c5b2fafc" providerId="LiveId" clId="{E9773A0E-2A09-4E2F-A917-C6448C26E1C6}" dt="2026-01-18T16:22:40.980" v="576" actId="478"/>
          <ac:picMkLst>
            <pc:docMk/>
            <pc:sldMk cId="613101927" sldId="269"/>
            <ac:picMk id="6" creationId="{0CBDA874-713F-4373-09B2-06598AB8414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741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9F266-2E99-A0DA-B699-DDA45EA27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0930A-EEFD-5A31-AA0C-870AD6AF3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B3CA9-E43B-350D-7A64-DE04E69CD1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E6D83A-B94E-FF16-9A9D-73E0104811B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1277479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DBBC9-F51E-17F0-A0B1-00EBA8122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41E0D-F17F-16AC-FB04-2287840966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9EAE1-2C2A-E056-C994-A9E65CB7BE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1F69E4-958E-0569-84C8-1B22F79A3F6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793504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2C33E-7D95-3125-7E4C-9C3DABE85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F083C-7BFD-946B-8EC5-889311C3EA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89B07-3FCC-FB23-B6CD-6AAC4B510C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5CD580-10FB-099C-A230-39EFD156DD1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242912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B7605-43F7-A1AB-66CF-B1C70CBB7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0799F-87C3-1A6B-4BDE-53068A21C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E9796B-D649-C2F4-E891-A30451A61B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6D3913-2C7B-3C66-04A3-5A603674C187}"/>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250251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mailto:goshensm@gmail.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 Id="rId14" Type="http://schemas.openxmlformats.org/officeDocument/2006/relationships/image" Target="../media/image20.sv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hyperlink" Target="https://www.figma.com/make/P7eqw9UPnZ9k6nburajzXD/Gosh-Resume-Builder-AI?t=AW6qhtVu7QHmUax4-1"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GoshRob/Gosh-Resume-Builder.git"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67462" y="2162294"/>
            <a:ext cx="5095399"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Gosh Resume Builder</a:t>
            </a:r>
            <a:endParaRPr lang="en-US" sz="3850" dirty="0"/>
          </a:p>
        </p:txBody>
      </p:sp>
      <p:sp>
        <p:nvSpPr>
          <p:cNvPr id="4" name="Text 1"/>
          <p:cNvSpPr/>
          <p:nvPr/>
        </p:nvSpPr>
        <p:spPr>
          <a:xfrm>
            <a:off x="6367462" y="3104674"/>
            <a:ext cx="73818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Your AI-Powered Career Companion for Creating ATS-Optimized, Professional Resumes</a:t>
            </a:r>
            <a:endParaRPr lang="en-US" sz="1700" dirty="0"/>
          </a:p>
        </p:txBody>
      </p:sp>
      <p:sp>
        <p:nvSpPr>
          <p:cNvPr id="5" name="Text 2"/>
          <p:cNvSpPr/>
          <p:nvPr/>
        </p:nvSpPr>
        <p:spPr>
          <a:xfrm>
            <a:off x="6367462" y="4057293"/>
            <a:ext cx="7381875" cy="352425"/>
          </a:xfrm>
          <a:prstGeom prst="rect">
            <a:avLst/>
          </a:prstGeom>
          <a:noFill/>
          <a:ln/>
        </p:spPr>
        <p:txBody>
          <a:bodyPr wrap="none" lIns="0" tIns="0" rIns="0" bIns="0" rtlCol="0" anchor="t"/>
          <a:lstStyle/>
          <a:p>
            <a:pPr marL="0" indent="0" algn="l">
              <a:lnSpc>
                <a:spcPts val="2750"/>
              </a:lnSpc>
              <a:buNone/>
            </a:pPr>
            <a:endParaRPr lang="en-US" sz="1700" dirty="0"/>
          </a:p>
        </p:txBody>
      </p:sp>
      <p:sp>
        <p:nvSpPr>
          <p:cNvPr id="6" name="Text 3"/>
          <p:cNvSpPr/>
          <p:nvPr/>
        </p:nvSpPr>
        <p:spPr>
          <a:xfrm>
            <a:off x="6367462" y="4657487"/>
            <a:ext cx="7381875" cy="140970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Name: Goshen Robert S M</a:t>
            </a:r>
            <a:endParaRPr lang="en-US" sz="1700" dirty="0"/>
          </a:p>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Mail ID: </a:t>
            </a:r>
            <a:r>
              <a:rPr lang="en-US" sz="1700" u="sng" dirty="0">
                <a:solidFill>
                  <a:srgbClr val="A95B95"/>
                </a:solidFill>
                <a:latin typeface="Mukta Light" pitchFamily="34" charset="0"/>
                <a:ea typeface="Mukta Light" pitchFamily="34" charset="-122"/>
                <a:cs typeface="Mukta Light" pitchFamily="34" charset="-120"/>
                <a:hlinkClick r:id="rId4">
                  <a:extLst>
                    <a:ext uri="{A12FA001-AC4F-418D-AE19-62706E023703}">
                      <ahyp:hlinkClr xmlns:ahyp="http://schemas.microsoft.com/office/drawing/2018/hyperlinkcolor" val="tx"/>
                    </a:ext>
                  </a:extLst>
                </a:hlinkClick>
              </a:rPr>
              <a:t>goshensm@gmail.com</a:t>
            </a:r>
            <a:endParaRPr lang="en-US" sz="1700" u="sng" dirty="0">
              <a:solidFill>
                <a:srgbClr val="A95B95"/>
              </a:solidFill>
              <a:latin typeface="Mukta Light" pitchFamily="34" charset="0"/>
              <a:ea typeface="Mukta Light" pitchFamily="34" charset="-122"/>
              <a:cs typeface="Mukta Light" pitchFamily="34" charset="-120"/>
            </a:endParaRPr>
          </a:p>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College Name: Panimalar Engineering College</a:t>
            </a:r>
            <a:endParaRPr lang="en-US" sz="1700" dirty="0"/>
          </a:p>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Mobile No: +91 9840596067</a:t>
            </a:r>
            <a:endParaRPr lang="en-US" sz="1700" dirty="0"/>
          </a:p>
        </p:txBody>
      </p:sp>
      <p:sp>
        <p:nvSpPr>
          <p:cNvPr id="7" name="Rectangle 6">
            <a:extLst>
              <a:ext uri="{FF2B5EF4-FFF2-40B4-BE49-F238E27FC236}">
                <a16:creationId xmlns:a16="http://schemas.microsoft.com/office/drawing/2014/main" id="{CBB99BBF-0671-7E26-3FBD-B15EF4577E61}"/>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CECF336-3E5E-9C4F-207E-20ABDE3883DC}"/>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858798" y="762357"/>
            <a:ext cx="1358265" cy="403622"/>
          </a:xfrm>
          <a:prstGeom prst="roundRect">
            <a:avLst>
              <a:gd name="adj" fmla="val 17875"/>
            </a:avLst>
          </a:prstGeom>
          <a:solidFill>
            <a:srgbClr val="321A2C"/>
          </a:solidFill>
          <a:ln/>
        </p:spPr>
      </p:sp>
      <p:sp>
        <p:nvSpPr>
          <p:cNvPr id="4" name="Text 1"/>
          <p:cNvSpPr/>
          <p:nvPr/>
        </p:nvSpPr>
        <p:spPr>
          <a:xfrm>
            <a:off x="987623" y="826770"/>
            <a:ext cx="1100614" cy="274796"/>
          </a:xfrm>
          <a:prstGeom prst="rect">
            <a:avLst/>
          </a:prstGeom>
          <a:noFill/>
          <a:ln/>
        </p:spPr>
        <p:txBody>
          <a:bodyPr wrap="non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INTRODUCTION</a:t>
            </a:r>
            <a:endParaRPr lang="en-US" sz="1350" dirty="0"/>
          </a:p>
        </p:txBody>
      </p:sp>
      <p:sp>
        <p:nvSpPr>
          <p:cNvPr id="5" name="Text 2"/>
          <p:cNvSpPr/>
          <p:nvPr/>
        </p:nvSpPr>
        <p:spPr>
          <a:xfrm>
            <a:off x="858798" y="1251823"/>
            <a:ext cx="7426404" cy="1193006"/>
          </a:xfrm>
          <a:prstGeom prst="rect">
            <a:avLst/>
          </a:prstGeom>
          <a:noFill/>
          <a:ln/>
        </p:spPr>
        <p:txBody>
          <a:bodyPr wrap="square" lIns="0" tIns="0" rIns="0" bIns="0" rtlCol="0" anchor="t"/>
          <a:lstStyle/>
          <a:p>
            <a:pPr marL="0" indent="0" algn="l">
              <a:lnSpc>
                <a:spcPts val="4650"/>
              </a:lnSpc>
              <a:buNone/>
            </a:pPr>
            <a:r>
              <a:rPr lang="en-US" sz="3750" dirty="0">
                <a:solidFill>
                  <a:srgbClr val="C6BFEE"/>
                </a:solidFill>
                <a:latin typeface="Prompt Medium" pitchFamily="34" charset="0"/>
                <a:ea typeface="Prompt Medium" pitchFamily="34" charset="-122"/>
                <a:cs typeface="Prompt Medium" pitchFamily="34" charset="-120"/>
              </a:rPr>
              <a:t>Transforming Resume Creation with AI Intelligence</a:t>
            </a:r>
            <a:endParaRPr lang="en-US" sz="3750" dirty="0"/>
          </a:p>
        </p:txBody>
      </p:sp>
      <p:sp>
        <p:nvSpPr>
          <p:cNvPr id="6" name="Text 3"/>
          <p:cNvSpPr/>
          <p:nvPr/>
        </p:nvSpPr>
        <p:spPr>
          <a:xfrm>
            <a:off x="858798" y="2960132"/>
            <a:ext cx="3451265" cy="2060258"/>
          </a:xfrm>
          <a:prstGeom prst="rect">
            <a:avLst/>
          </a:prstGeom>
          <a:noFill/>
          <a:ln/>
        </p:spPr>
        <p:txBody>
          <a:bodyPr wrap="square" lIns="0" tIns="0" rIns="0" bIns="0" rtlCol="0" anchor="t"/>
          <a:lstStyle/>
          <a:p>
            <a:pPr marL="0" indent="0" algn="l">
              <a:lnSpc>
                <a:spcPts val="2700"/>
              </a:lnSpc>
              <a:buNone/>
            </a:pPr>
            <a:r>
              <a:rPr lang="en-US" sz="1650" dirty="0">
                <a:solidFill>
                  <a:srgbClr val="DAD8E9"/>
                </a:solidFill>
                <a:latin typeface="Mukta Light" pitchFamily="34" charset="0"/>
                <a:ea typeface="Mukta Light" pitchFamily="34" charset="-122"/>
                <a:cs typeface="Mukta Light" pitchFamily="34" charset="-120"/>
              </a:rPr>
              <a:t>Gosh Resume Builder is an expert AI-powered platform that combines career consulting expertise with advanced content generation to help job seekers create highly professional, role-specific resumes.</a:t>
            </a:r>
            <a:endParaRPr lang="en-US" sz="1650" dirty="0"/>
          </a:p>
        </p:txBody>
      </p:sp>
      <p:sp>
        <p:nvSpPr>
          <p:cNvPr id="7" name="Text 4"/>
          <p:cNvSpPr/>
          <p:nvPr/>
        </p:nvSpPr>
        <p:spPr>
          <a:xfrm>
            <a:off x="858798" y="5213628"/>
            <a:ext cx="3451265" cy="2060258"/>
          </a:xfrm>
          <a:prstGeom prst="rect">
            <a:avLst/>
          </a:prstGeom>
          <a:noFill/>
          <a:ln/>
        </p:spPr>
        <p:txBody>
          <a:bodyPr wrap="square" lIns="0" tIns="0" rIns="0" bIns="0" rtlCol="0" anchor="t"/>
          <a:lstStyle/>
          <a:p>
            <a:pPr marL="0" indent="0" algn="l">
              <a:lnSpc>
                <a:spcPts val="2700"/>
              </a:lnSpc>
              <a:buNone/>
            </a:pPr>
            <a:r>
              <a:rPr lang="en-US" sz="1650" dirty="0">
                <a:solidFill>
                  <a:srgbClr val="DAD8E9"/>
                </a:solidFill>
                <a:latin typeface="Mukta Light" pitchFamily="34" charset="0"/>
                <a:ea typeface="Mukta Light" pitchFamily="34" charset="-122"/>
                <a:cs typeface="Mukta Light" pitchFamily="34" charset="-120"/>
              </a:rPr>
              <a:t>Designed for students, fresh graduates, and experienced professionals alike, our platform ensures every resume is tailored to beat Applicant Tracking Systems while showcasing your unique qualifications.</a:t>
            </a:r>
            <a:endParaRPr lang="en-US" sz="1650" dirty="0"/>
          </a:p>
        </p:txBody>
      </p:sp>
      <p:sp>
        <p:nvSpPr>
          <p:cNvPr id="8" name="Text 5"/>
          <p:cNvSpPr/>
          <p:nvPr/>
        </p:nvSpPr>
        <p:spPr>
          <a:xfrm>
            <a:off x="4841557" y="2960132"/>
            <a:ext cx="3451265" cy="343376"/>
          </a:xfrm>
          <a:prstGeom prst="rect">
            <a:avLst/>
          </a:prstGeom>
          <a:noFill/>
          <a:ln/>
        </p:spPr>
        <p:txBody>
          <a:bodyPr wrap="none" lIns="0" tIns="0" rIns="0" bIns="0" rtlCol="0" anchor="t"/>
          <a:lstStyle/>
          <a:p>
            <a:pPr marL="0" indent="0" algn="l">
              <a:lnSpc>
                <a:spcPts val="2700"/>
              </a:lnSpc>
              <a:buNone/>
            </a:pPr>
            <a:r>
              <a:rPr lang="en-US" sz="1650" b="1" dirty="0">
                <a:solidFill>
                  <a:srgbClr val="DAD8E9"/>
                </a:solidFill>
                <a:latin typeface="Mukta Light" pitchFamily="34" charset="0"/>
                <a:ea typeface="Mukta Light" pitchFamily="34" charset="-122"/>
                <a:cs typeface="Mukta Light" pitchFamily="34" charset="-120"/>
              </a:rPr>
              <a:t>Who Benefits:</a:t>
            </a:r>
            <a:endParaRPr lang="en-US" sz="1650" dirty="0"/>
          </a:p>
        </p:txBody>
      </p:sp>
      <p:sp>
        <p:nvSpPr>
          <p:cNvPr id="9" name="Text 6"/>
          <p:cNvSpPr/>
          <p:nvPr/>
        </p:nvSpPr>
        <p:spPr>
          <a:xfrm>
            <a:off x="4841557" y="3496747"/>
            <a:ext cx="3451265" cy="686752"/>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DAD8E9"/>
                </a:solidFill>
                <a:latin typeface="Mukta Light" pitchFamily="34" charset="0"/>
                <a:ea typeface="Mukta Light" pitchFamily="34" charset="-122"/>
                <a:cs typeface="Mukta Light" pitchFamily="34" charset="-120"/>
              </a:rPr>
              <a:t>Students seeking internships and entry-level positions</a:t>
            </a:r>
            <a:endParaRPr lang="en-US" sz="1650" dirty="0"/>
          </a:p>
        </p:txBody>
      </p:sp>
      <p:sp>
        <p:nvSpPr>
          <p:cNvPr id="10" name="Text 7"/>
          <p:cNvSpPr/>
          <p:nvPr/>
        </p:nvSpPr>
        <p:spPr>
          <a:xfrm>
            <a:off x="4841557" y="4258628"/>
            <a:ext cx="3451265" cy="686752"/>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DAD8E9"/>
                </a:solidFill>
                <a:latin typeface="Mukta Light" pitchFamily="34" charset="0"/>
                <a:ea typeface="Mukta Light" pitchFamily="34" charset="-122"/>
                <a:cs typeface="Mukta Light" pitchFamily="34" charset="-120"/>
              </a:rPr>
              <a:t>Fresh graduates entering the job market</a:t>
            </a:r>
            <a:endParaRPr lang="en-US" sz="1650" dirty="0"/>
          </a:p>
        </p:txBody>
      </p:sp>
      <p:sp>
        <p:nvSpPr>
          <p:cNvPr id="11" name="Text 8"/>
          <p:cNvSpPr/>
          <p:nvPr/>
        </p:nvSpPr>
        <p:spPr>
          <a:xfrm>
            <a:off x="4841557" y="5020508"/>
            <a:ext cx="3451265" cy="686752"/>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DAD8E9"/>
                </a:solidFill>
                <a:latin typeface="Mukta Light" pitchFamily="34" charset="0"/>
                <a:ea typeface="Mukta Light" pitchFamily="34" charset="-122"/>
                <a:cs typeface="Mukta Light" pitchFamily="34" charset="-120"/>
              </a:rPr>
              <a:t>Experienced professionals pursuing career advancement</a:t>
            </a:r>
            <a:endParaRPr lang="en-US" sz="1650" dirty="0"/>
          </a:p>
        </p:txBody>
      </p:sp>
      <p:sp>
        <p:nvSpPr>
          <p:cNvPr id="12" name="Text 9"/>
          <p:cNvSpPr/>
          <p:nvPr/>
        </p:nvSpPr>
        <p:spPr>
          <a:xfrm>
            <a:off x="4841557" y="5782389"/>
            <a:ext cx="3451265" cy="686752"/>
          </a:xfrm>
          <a:prstGeom prst="rect">
            <a:avLst/>
          </a:prstGeom>
          <a:noFill/>
          <a:ln/>
        </p:spPr>
        <p:txBody>
          <a:bodyPr wrap="square" lIns="0" tIns="0" rIns="0" bIns="0" rtlCol="0" anchor="t"/>
          <a:lstStyle/>
          <a:p>
            <a:pPr marL="342900" indent="-342900" algn="l">
              <a:lnSpc>
                <a:spcPts val="2700"/>
              </a:lnSpc>
              <a:buSzPct val="100000"/>
              <a:buChar char="•"/>
            </a:pPr>
            <a:r>
              <a:rPr lang="en-US" sz="1650" dirty="0">
                <a:solidFill>
                  <a:srgbClr val="DAD8E9"/>
                </a:solidFill>
                <a:latin typeface="Mukta Light" pitchFamily="34" charset="0"/>
                <a:ea typeface="Mukta Light" pitchFamily="34" charset="-122"/>
                <a:cs typeface="Mukta Light" pitchFamily="34" charset="-120"/>
              </a:rPr>
              <a:t>Career changers requiring tailored documentation</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65797"/>
          </a:xfrm>
          <a:prstGeom prst="rect">
            <a:avLst/>
          </a:prstGeom>
        </p:spPr>
      </p:pic>
      <p:sp>
        <p:nvSpPr>
          <p:cNvPr id="3" name="Shape 0"/>
          <p:cNvSpPr/>
          <p:nvPr/>
        </p:nvSpPr>
        <p:spPr>
          <a:xfrm>
            <a:off x="821055" y="3131344"/>
            <a:ext cx="1723906" cy="385763"/>
          </a:xfrm>
          <a:prstGeom prst="roundRect">
            <a:avLst>
              <a:gd name="adj" fmla="val 17879"/>
            </a:avLst>
          </a:prstGeom>
          <a:solidFill>
            <a:srgbClr val="321A2C"/>
          </a:solidFill>
          <a:ln/>
        </p:spPr>
      </p:sp>
      <p:sp>
        <p:nvSpPr>
          <p:cNvPr id="4" name="Text 1"/>
          <p:cNvSpPr/>
          <p:nvPr/>
        </p:nvSpPr>
        <p:spPr>
          <a:xfrm>
            <a:off x="944166" y="3192899"/>
            <a:ext cx="1477685" cy="262652"/>
          </a:xfrm>
          <a:prstGeom prst="rect">
            <a:avLst/>
          </a:prstGeom>
          <a:noFill/>
          <a:ln/>
        </p:spPr>
        <p:txBody>
          <a:bodyPr wrap="none" lIns="0" tIns="0" rIns="0" bIns="0" rtlCol="0" anchor="t"/>
          <a:lstStyle/>
          <a:p>
            <a:pPr marL="0" indent="0" algn="l">
              <a:lnSpc>
                <a:spcPts val="2050"/>
              </a:lnSpc>
              <a:buNone/>
            </a:pPr>
            <a:r>
              <a:rPr lang="en-US" sz="1250" dirty="0">
                <a:solidFill>
                  <a:srgbClr val="DAD8E9"/>
                </a:solidFill>
                <a:latin typeface="Mukta Light" pitchFamily="34" charset="0"/>
                <a:ea typeface="Mukta Light" pitchFamily="34" charset="-122"/>
                <a:cs typeface="Mukta Light" pitchFamily="34" charset="-120"/>
              </a:rPr>
              <a:t>PROBLEM STATEMENT</a:t>
            </a:r>
            <a:endParaRPr lang="en-US" sz="1250" dirty="0"/>
          </a:p>
        </p:txBody>
      </p:sp>
      <p:sp>
        <p:nvSpPr>
          <p:cNvPr id="5" name="Text 2"/>
          <p:cNvSpPr/>
          <p:nvPr/>
        </p:nvSpPr>
        <p:spPr>
          <a:xfrm>
            <a:off x="821055" y="3599140"/>
            <a:ext cx="7143988" cy="570071"/>
          </a:xfrm>
          <a:prstGeom prst="rect">
            <a:avLst/>
          </a:prstGeom>
          <a:noFill/>
          <a:ln/>
        </p:spPr>
        <p:txBody>
          <a:bodyPr wrap="none" lIns="0" tIns="0" rIns="0" bIns="0" rtlCol="0" anchor="t"/>
          <a:lstStyle/>
          <a:p>
            <a:pPr marL="0" indent="0" algn="l">
              <a:lnSpc>
                <a:spcPts val="4450"/>
              </a:lnSpc>
              <a:buNone/>
            </a:pPr>
            <a:r>
              <a:rPr lang="en-US" sz="3550" dirty="0">
                <a:solidFill>
                  <a:srgbClr val="C6BFEE"/>
                </a:solidFill>
                <a:latin typeface="Prompt Medium" pitchFamily="34" charset="0"/>
                <a:ea typeface="Prompt Medium" pitchFamily="34" charset="-122"/>
                <a:cs typeface="Prompt Medium" pitchFamily="34" charset="-120"/>
              </a:rPr>
              <a:t>The Resume Creation Challenge</a:t>
            </a:r>
            <a:endParaRPr lang="en-US" sz="3550" dirty="0"/>
          </a:p>
        </p:txBody>
      </p:sp>
      <p:sp>
        <p:nvSpPr>
          <p:cNvPr id="6" name="Shape 3"/>
          <p:cNvSpPr/>
          <p:nvPr/>
        </p:nvSpPr>
        <p:spPr>
          <a:xfrm>
            <a:off x="821055" y="4477107"/>
            <a:ext cx="6391513" cy="1490782"/>
          </a:xfrm>
          <a:prstGeom prst="roundRect">
            <a:avLst>
              <a:gd name="adj" fmla="val 5783"/>
            </a:avLst>
          </a:prstGeom>
          <a:solidFill>
            <a:srgbClr val="542C49"/>
          </a:solidFill>
          <a:ln w="7620">
            <a:solidFill>
              <a:srgbClr val="6D4562"/>
            </a:solidFill>
            <a:prstDash val="solid"/>
          </a:ln>
        </p:spPr>
      </p:sp>
      <p:sp>
        <p:nvSpPr>
          <p:cNvPr id="7" name="Text 4"/>
          <p:cNvSpPr/>
          <p:nvPr/>
        </p:nvSpPr>
        <p:spPr>
          <a:xfrm>
            <a:off x="1033939" y="4689991"/>
            <a:ext cx="2280642" cy="285155"/>
          </a:xfrm>
          <a:prstGeom prst="rect">
            <a:avLst/>
          </a:prstGeom>
          <a:noFill/>
          <a:ln/>
        </p:spPr>
        <p:txBody>
          <a:bodyPr wrap="none" lIns="0" tIns="0" rIns="0" bIns="0" rtlCol="0" anchor="t"/>
          <a:lstStyle/>
          <a:p>
            <a:pPr marL="0" indent="0" algn="l">
              <a:lnSpc>
                <a:spcPts val="2200"/>
              </a:lnSpc>
              <a:buNone/>
            </a:pPr>
            <a:r>
              <a:rPr lang="en-US" sz="1750" dirty="0">
                <a:solidFill>
                  <a:srgbClr val="DAD8E9"/>
                </a:solidFill>
                <a:latin typeface="Prompt Medium" pitchFamily="34" charset="0"/>
                <a:ea typeface="Prompt Medium" pitchFamily="34" charset="-122"/>
                <a:cs typeface="Prompt Medium" pitchFamily="34" charset="-120"/>
              </a:rPr>
              <a:t>ATS Rejection Crisis</a:t>
            </a:r>
            <a:endParaRPr lang="en-US" sz="1750" dirty="0"/>
          </a:p>
        </p:txBody>
      </p:sp>
      <p:sp>
        <p:nvSpPr>
          <p:cNvPr id="8" name="Text 5"/>
          <p:cNvSpPr/>
          <p:nvPr/>
        </p:nvSpPr>
        <p:spPr>
          <a:xfrm>
            <a:off x="1033939" y="5098256"/>
            <a:ext cx="5965746" cy="656749"/>
          </a:xfrm>
          <a:prstGeom prst="rect">
            <a:avLst/>
          </a:prstGeom>
          <a:noFill/>
          <a:ln/>
        </p:spPr>
        <p:txBody>
          <a:bodyPr wrap="square" lIns="0" tIns="0" rIns="0" bIns="0" rtlCol="0" anchor="t"/>
          <a:lstStyle/>
          <a:p>
            <a:pPr marL="0" indent="0" algn="l">
              <a:lnSpc>
                <a:spcPts val="2550"/>
              </a:lnSpc>
              <a:buNone/>
            </a:pPr>
            <a:r>
              <a:rPr lang="en-US" sz="1600" dirty="0">
                <a:solidFill>
                  <a:srgbClr val="DAD8E9"/>
                </a:solidFill>
                <a:latin typeface="Mukta Light" pitchFamily="34" charset="0"/>
                <a:ea typeface="Mukta Light" pitchFamily="34" charset="-122"/>
                <a:cs typeface="Mukta Light" pitchFamily="34" charset="-120"/>
              </a:rPr>
              <a:t>75% of resumes never reach human recruiters due to poor ATS optimization and formatting issues</a:t>
            </a:r>
            <a:endParaRPr lang="en-US" sz="1600" dirty="0"/>
          </a:p>
        </p:txBody>
      </p:sp>
      <p:sp>
        <p:nvSpPr>
          <p:cNvPr id="9" name="Shape 6"/>
          <p:cNvSpPr/>
          <p:nvPr/>
        </p:nvSpPr>
        <p:spPr>
          <a:xfrm>
            <a:off x="7417832" y="4477107"/>
            <a:ext cx="6391513" cy="1490782"/>
          </a:xfrm>
          <a:prstGeom prst="roundRect">
            <a:avLst>
              <a:gd name="adj" fmla="val 5783"/>
            </a:avLst>
          </a:prstGeom>
          <a:solidFill>
            <a:srgbClr val="542C49"/>
          </a:solidFill>
          <a:ln w="7620">
            <a:solidFill>
              <a:srgbClr val="6D4562"/>
            </a:solidFill>
            <a:prstDash val="solid"/>
          </a:ln>
        </p:spPr>
      </p:sp>
      <p:sp>
        <p:nvSpPr>
          <p:cNvPr id="10" name="Text 7"/>
          <p:cNvSpPr/>
          <p:nvPr/>
        </p:nvSpPr>
        <p:spPr>
          <a:xfrm>
            <a:off x="7630716" y="4689991"/>
            <a:ext cx="2802850" cy="285155"/>
          </a:xfrm>
          <a:prstGeom prst="rect">
            <a:avLst/>
          </a:prstGeom>
          <a:noFill/>
          <a:ln/>
        </p:spPr>
        <p:txBody>
          <a:bodyPr wrap="none" lIns="0" tIns="0" rIns="0" bIns="0" rtlCol="0" anchor="t"/>
          <a:lstStyle/>
          <a:p>
            <a:pPr marL="0" indent="0" algn="l">
              <a:lnSpc>
                <a:spcPts val="2200"/>
              </a:lnSpc>
              <a:buNone/>
            </a:pPr>
            <a:r>
              <a:rPr lang="en-US" sz="1750" dirty="0">
                <a:solidFill>
                  <a:srgbClr val="DAD8E9"/>
                </a:solidFill>
                <a:latin typeface="Prompt Medium" pitchFamily="34" charset="0"/>
                <a:ea typeface="Prompt Medium" pitchFamily="34" charset="-122"/>
                <a:cs typeface="Prompt Medium" pitchFamily="34" charset="-120"/>
              </a:rPr>
              <a:t>Time-Consuming Process</a:t>
            </a:r>
            <a:endParaRPr lang="en-US" sz="1750" dirty="0"/>
          </a:p>
        </p:txBody>
      </p:sp>
      <p:sp>
        <p:nvSpPr>
          <p:cNvPr id="11" name="Text 8"/>
          <p:cNvSpPr/>
          <p:nvPr/>
        </p:nvSpPr>
        <p:spPr>
          <a:xfrm>
            <a:off x="7630716" y="5098256"/>
            <a:ext cx="5965746" cy="656749"/>
          </a:xfrm>
          <a:prstGeom prst="rect">
            <a:avLst/>
          </a:prstGeom>
          <a:noFill/>
          <a:ln/>
        </p:spPr>
        <p:txBody>
          <a:bodyPr wrap="square" lIns="0" tIns="0" rIns="0" bIns="0" rtlCol="0" anchor="t"/>
          <a:lstStyle/>
          <a:p>
            <a:pPr marL="0" indent="0" algn="l">
              <a:lnSpc>
                <a:spcPts val="2550"/>
              </a:lnSpc>
              <a:buNone/>
            </a:pPr>
            <a:r>
              <a:rPr lang="en-US" sz="1600" dirty="0">
                <a:solidFill>
                  <a:srgbClr val="DAD8E9"/>
                </a:solidFill>
                <a:latin typeface="Mukta Light" pitchFamily="34" charset="0"/>
                <a:ea typeface="Mukta Light" pitchFamily="34" charset="-122"/>
                <a:cs typeface="Mukta Light" pitchFamily="34" charset="-120"/>
              </a:rPr>
              <a:t>Job seekers spend 6-8 hours creating a single resume, often with suboptimal results</a:t>
            </a:r>
            <a:endParaRPr lang="en-US" sz="1600" dirty="0"/>
          </a:p>
        </p:txBody>
      </p:sp>
      <p:sp>
        <p:nvSpPr>
          <p:cNvPr id="12" name="Shape 9"/>
          <p:cNvSpPr/>
          <p:nvPr/>
        </p:nvSpPr>
        <p:spPr>
          <a:xfrm>
            <a:off x="821055" y="6173153"/>
            <a:ext cx="6391513" cy="1490782"/>
          </a:xfrm>
          <a:prstGeom prst="roundRect">
            <a:avLst>
              <a:gd name="adj" fmla="val 5783"/>
            </a:avLst>
          </a:prstGeom>
          <a:solidFill>
            <a:srgbClr val="542C49"/>
          </a:solidFill>
          <a:ln w="7620">
            <a:solidFill>
              <a:srgbClr val="6D4562"/>
            </a:solidFill>
            <a:prstDash val="solid"/>
          </a:ln>
        </p:spPr>
      </p:sp>
      <p:sp>
        <p:nvSpPr>
          <p:cNvPr id="13" name="Text 10"/>
          <p:cNvSpPr/>
          <p:nvPr/>
        </p:nvSpPr>
        <p:spPr>
          <a:xfrm>
            <a:off x="1033939" y="6386036"/>
            <a:ext cx="2558534" cy="285155"/>
          </a:xfrm>
          <a:prstGeom prst="rect">
            <a:avLst/>
          </a:prstGeom>
          <a:noFill/>
          <a:ln/>
        </p:spPr>
        <p:txBody>
          <a:bodyPr wrap="none" lIns="0" tIns="0" rIns="0" bIns="0" rtlCol="0" anchor="t"/>
          <a:lstStyle/>
          <a:p>
            <a:pPr marL="0" indent="0" algn="l">
              <a:lnSpc>
                <a:spcPts val="2200"/>
              </a:lnSpc>
              <a:buNone/>
            </a:pPr>
            <a:r>
              <a:rPr lang="en-US" sz="1750" dirty="0">
                <a:solidFill>
                  <a:srgbClr val="DAD8E9"/>
                </a:solidFill>
                <a:latin typeface="Prompt Medium" pitchFamily="34" charset="0"/>
                <a:ea typeface="Prompt Medium" pitchFamily="34" charset="-122"/>
                <a:cs typeface="Prompt Medium" pitchFamily="34" charset="-120"/>
              </a:rPr>
              <a:t>Lack of Personalization</a:t>
            </a:r>
            <a:endParaRPr lang="en-US" sz="1750" dirty="0"/>
          </a:p>
        </p:txBody>
      </p:sp>
      <p:sp>
        <p:nvSpPr>
          <p:cNvPr id="14" name="Text 11"/>
          <p:cNvSpPr/>
          <p:nvPr/>
        </p:nvSpPr>
        <p:spPr>
          <a:xfrm>
            <a:off x="1033939" y="6794302"/>
            <a:ext cx="5965746" cy="656749"/>
          </a:xfrm>
          <a:prstGeom prst="rect">
            <a:avLst/>
          </a:prstGeom>
          <a:noFill/>
          <a:ln/>
        </p:spPr>
        <p:txBody>
          <a:bodyPr wrap="square" lIns="0" tIns="0" rIns="0" bIns="0" rtlCol="0" anchor="t"/>
          <a:lstStyle/>
          <a:p>
            <a:pPr marL="0" indent="0" algn="l">
              <a:lnSpc>
                <a:spcPts val="2550"/>
              </a:lnSpc>
              <a:buNone/>
            </a:pPr>
            <a:r>
              <a:rPr lang="en-US" sz="1600" dirty="0">
                <a:solidFill>
                  <a:srgbClr val="DAD8E9"/>
                </a:solidFill>
                <a:latin typeface="Mukta Light" pitchFamily="34" charset="0"/>
                <a:ea typeface="Mukta Light" pitchFamily="34" charset="-122"/>
                <a:cs typeface="Mukta Light" pitchFamily="34" charset="-120"/>
              </a:rPr>
              <a:t>Generic templates fail to highlight role-specific skills and achievements effectively</a:t>
            </a:r>
            <a:endParaRPr lang="en-US" sz="1600" dirty="0"/>
          </a:p>
        </p:txBody>
      </p:sp>
      <p:sp>
        <p:nvSpPr>
          <p:cNvPr id="15" name="Shape 12"/>
          <p:cNvSpPr/>
          <p:nvPr/>
        </p:nvSpPr>
        <p:spPr>
          <a:xfrm>
            <a:off x="7417832" y="6173153"/>
            <a:ext cx="6391513" cy="1490782"/>
          </a:xfrm>
          <a:prstGeom prst="roundRect">
            <a:avLst>
              <a:gd name="adj" fmla="val 5783"/>
            </a:avLst>
          </a:prstGeom>
          <a:solidFill>
            <a:srgbClr val="542C49"/>
          </a:solidFill>
          <a:ln w="7620">
            <a:solidFill>
              <a:srgbClr val="6D4562"/>
            </a:solidFill>
            <a:prstDash val="solid"/>
          </a:ln>
        </p:spPr>
      </p:sp>
      <p:sp>
        <p:nvSpPr>
          <p:cNvPr id="16" name="Text 13"/>
          <p:cNvSpPr/>
          <p:nvPr/>
        </p:nvSpPr>
        <p:spPr>
          <a:xfrm>
            <a:off x="7630716" y="6386036"/>
            <a:ext cx="2280642" cy="285155"/>
          </a:xfrm>
          <a:prstGeom prst="rect">
            <a:avLst/>
          </a:prstGeom>
          <a:noFill/>
          <a:ln/>
        </p:spPr>
        <p:txBody>
          <a:bodyPr wrap="none" lIns="0" tIns="0" rIns="0" bIns="0" rtlCol="0" anchor="t"/>
          <a:lstStyle/>
          <a:p>
            <a:pPr marL="0" indent="0" algn="l">
              <a:lnSpc>
                <a:spcPts val="2200"/>
              </a:lnSpc>
              <a:buNone/>
            </a:pPr>
            <a:r>
              <a:rPr lang="en-US" sz="1750" dirty="0">
                <a:solidFill>
                  <a:srgbClr val="DAD8E9"/>
                </a:solidFill>
                <a:latin typeface="Prompt Medium" pitchFamily="34" charset="0"/>
                <a:ea typeface="Prompt Medium" pitchFamily="34" charset="-122"/>
                <a:cs typeface="Prompt Medium" pitchFamily="34" charset="-120"/>
              </a:rPr>
              <a:t>Skill Gap Blindness</a:t>
            </a:r>
            <a:endParaRPr lang="en-US" sz="1750" dirty="0"/>
          </a:p>
        </p:txBody>
      </p:sp>
      <p:sp>
        <p:nvSpPr>
          <p:cNvPr id="17" name="Text 14"/>
          <p:cNvSpPr/>
          <p:nvPr/>
        </p:nvSpPr>
        <p:spPr>
          <a:xfrm>
            <a:off x="7630716" y="6794302"/>
            <a:ext cx="5965746" cy="656749"/>
          </a:xfrm>
          <a:prstGeom prst="rect">
            <a:avLst/>
          </a:prstGeom>
          <a:noFill/>
          <a:ln/>
        </p:spPr>
        <p:txBody>
          <a:bodyPr wrap="square" lIns="0" tIns="0" rIns="0" bIns="0" rtlCol="0" anchor="t"/>
          <a:lstStyle/>
          <a:p>
            <a:pPr marL="0" indent="0" algn="l">
              <a:lnSpc>
                <a:spcPts val="2550"/>
              </a:lnSpc>
              <a:buNone/>
            </a:pPr>
            <a:r>
              <a:rPr lang="en-US" sz="1600" dirty="0">
                <a:solidFill>
                  <a:srgbClr val="DAD8E9"/>
                </a:solidFill>
                <a:latin typeface="Mukta Light" pitchFamily="34" charset="0"/>
                <a:ea typeface="Mukta Light" pitchFamily="34" charset="-122"/>
                <a:cs typeface="Mukta Light" pitchFamily="34" charset="-120"/>
              </a:rPr>
              <a:t>Most candidates don't know which critical skills they're missing for their target roles</a:t>
            </a:r>
            <a:endParaRPr lang="en-US" sz="1600" dirty="0"/>
          </a:p>
        </p:txBody>
      </p:sp>
      <p:sp>
        <p:nvSpPr>
          <p:cNvPr id="18" name="Rectangle 17">
            <a:extLst>
              <a:ext uri="{FF2B5EF4-FFF2-40B4-BE49-F238E27FC236}">
                <a16:creationId xmlns:a16="http://schemas.microsoft.com/office/drawing/2014/main" id="{E4E08BAA-6A4F-BF78-70AC-225B97D085A4}"/>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475E783-57EF-C16B-701D-689CA50C3348}"/>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35462" y="858083"/>
            <a:ext cx="6786801" cy="522208"/>
          </a:xfrm>
          <a:prstGeom prst="rect">
            <a:avLst/>
          </a:prstGeom>
          <a:noFill/>
          <a:ln/>
        </p:spPr>
        <p:txBody>
          <a:bodyPr wrap="none" lIns="0" tIns="0" rIns="0" bIns="0" rtlCol="0" anchor="t"/>
          <a:lstStyle/>
          <a:p>
            <a:pPr marL="0" indent="0" algn="l">
              <a:lnSpc>
                <a:spcPts val="4100"/>
              </a:lnSpc>
              <a:buNone/>
            </a:pPr>
            <a:r>
              <a:rPr lang="en-US" sz="3250" dirty="0">
                <a:solidFill>
                  <a:srgbClr val="C6BFEE"/>
                </a:solidFill>
                <a:latin typeface="Prompt Medium" pitchFamily="34" charset="0"/>
                <a:ea typeface="Prompt Medium" pitchFamily="34" charset="-122"/>
                <a:cs typeface="Prompt Medium" pitchFamily="34" charset="-120"/>
              </a:rPr>
              <a:t>Understanding the Core Problem</a:t>
            </a:r>
            <a:endParaRPr lang="en-US" sz="3250" dirty="0"/>
          </a:p>
        </p:txBody>
      </p:sp>
      <p:sp>
        <p:nvSpPr>
          <p:cNvPr id="4" name="Shape 1"/>
          <p:cNvSpPr/>
          <p:nvPr/>
        </p:nvSpPr>
        <p:spPr>
          <a:xfrm>
            <a:off x="835462" y="1634014"/>
            <a:ext cx="3651885" cy="2784158"/>
          </a:xfrm>
          <a:prstGeom prst="roundRect">
            <a:avLst>
              <a:gd name="adj" fmla="val 3941"/>
            </a:avLst>
          </a:prstGeom>
          <a:solidFill>
            <a:srgbClr val="0B0C23">
              <a:alpha val="95000"/>
            </a:srgbClr>
          </a:solidFill>
          <a:ln w="22860">
            <a:solidFill>
              <a:srgbClr val="6D4562"/>
            </a:solidFill>
            <a:prstDash val="solid"/>
          </a:ln>
        </p:spPr>
      </p:sp>
      <p:sp>
        <p:nvSpPr>
          <p:cNvPr id="5" name="Shape 2"/>
          <p:cNvSpPr/>
          <p:nvPr/>
        </p:nvSpPr>
        <p:spPr>
          <a:xfrm>
            <a:off x="812602" y="1634014"/>
            <a:ext cx="91440" cy="2784158"/>
          </a:xfrm>
          <a:prstGeom prst="roundRect">
            <a:avLst>
              <a:gd name="adj" fmla="val 86350"/>
            </a:avLst>
          </a:prstGeom>
          <a:solidFill>
            <a:srgbClr val="A95B95"/>
          </a:solidFill>
          <a:ln/>
        </p:spPr>
      </p:sp>
      <p:sp>
        <p:nvSpPr>
          <p:cNvPr id="6" name="Text 3"/>
          <p:cNvSpPr/>
          <p:nvPr/>
        </p:nvSpPr>
        <p:spPr>
          <a:xfrm>
            <a:off x="1114782" y="1844754"/>
            <a:ext cx="2088832" cy="260985"/>
          </a:xfrm>
          <a:prstGeom prst="rect">
            <a:avLst/>
          </a:prstGeom>
          <a:noFill/>
          <a:ln/>
        </p:spPr>
        <p:txBody>
          <a:bodyPr wrap="none" lIns="0" tIns="0" rIns="0" bIns="0" rtlCol="0" anchor="t"/>
          <a:lstStyle/>
          <a:p>
            <a:pPr marL="0" indent="0" algn="l">
              <a:lnSpc>
                <a:spcPts val="2050"/>
              </a:lnSpc>
              <a:buNone/>
            </a:pPr>
            <a:r>
              <a:rPr lang="en-US" sz="1600" dirty="0">
                <a:solidFill>
                  <a:srgbClr val="DAD8E9"/>
                </a:solidFill>
                <a:latin typeface="Prompt Medium" pitchFamily="34" charset="0"/>
                <a:ea typeface="Prompt Medium" pitchFamily="34" charset="-122"/>
                <a:cs typeface="Prompt Medium" pitchFamily="34" charset="-120"/>
              </a:rPr>
              <a:t>The ATS Barrier</a:t>
            </a:r>
            <a:endParaRPr lang="en-US" sz="1600" dirty="0"/>
          </a:p>
        </p:txBody>
      </p:sp>
      <p:sp>
        <p:nvSpPr>
          <p:cNvPr id="7" name="Text 4"/>
          <p:cNvSpPr/>
          <p:nvPr/>
        </p:nvSpPr>
        <p:spPr>
          <a:xfrm>
            <a:off x="1114782" y="2207181"/>
            <a:ext cx="3161824" cy="2000250"/>
          </a:xfrm>
          <a:prstGeom prst="rect">
            <a:avLst/>
          </a:prstGeom>
          <a:noFill/>
          <a:ln/>
        </p:spPr>
        <p:txBody>
          <a:bodyPr wrap="square" lIns="0" tIns="0" rIns="0" bIns="0" rtlCol="0" anchor="t"/>
          <a:lstStyle/>
          <a:p>
            <a:pPr marL="0" indent="0" algn="l">
              <a:lnSpc>
                <a:spcPts val="2250"/>
              </a:lnSpc>
              <a:buNone/>
            </a:pPr>
            <a:r>
              <a:rPr lang="en-US" sz="1450" dirty="0">
                <a:solidFill>
                  <a:srgbClr val="DAD8E9"/>
                </a:solidFill>
                <a:latin typeface="Mukta Light" pitchFamily="34" charset="0"/>
                <a:ea typeface="Mukta Light" pitchFamily="34" charset="-122"/>
                <a:cs typeface="Mukta Light" pitchFamily="34" charset="-120"/>
              </a:rPr>
              <a:t>Modern hiring relies heavily on Applicant Tracking Systems that scan resumes for specific keywords, formatting standards, and structural elements. Resumes that don't meet these technical requirements are automatically filtered out, regardless of candidate qualifications.</a:t>
            </a:r>
            <a:endParaRPr lang="en-US" sz="1450" dirty="0"/>
          </a:p>
        </p:txBody>
      </p:sp>
      <p:sp>
        <p:nvSpPr>
          <p:cNvPr id="8" name="Shape 5"/>
          <p:cNvSpPr/>
          <p:nvPr/>
        </p:nvSpPr>
        <p:spPr>
          <a:xfrm>
            <a:off x="4656534" y="1634014"/>
            <a:ext cx="3652004" cy="2784158"/>
          </a:xfrm>
          <a:prstGeom prst="roundRect">
            <a:avLst>
              <a:gd name="adj" fmla="val 3941"/>
            </a:avLst>
          </a:prstGeom>
          <a:solidFill>
            <a:srgbClr val="0B0C23">
              <a:alpha val="95000"/>
            </a:srgbClr>
          </a:solidFill>
          <a:ln w="22860">
            <a:solidFill>
              <a:srgbClr val="6D4562"/>
            </a:solidFill>
            <a:prstDash val="solid"/>
          </a:ln>
        </p:spPr>
      </p:sp>
      <p:sp>
        <p:nvSpPr>
          <p:cNvPr id="9" name="Shape 6"/>
          <p:cNvSpPr/>
          <p:nvPr/>
        </p:nvSpPr>
        <p:spPr>
          <a:xfrm>
            <a:off x="4633674" y="1634014"/>
            <a:ext cx="91440" cy="2784158"/>
          </a:xfrm>
          <a:prstGeom prst="roundRect">
            <a:avLst>
              <a:gd name="adj" fmla="val 86350"/>
            </a:avLst>
          </a:prstGeom>
          <a:solidFill>
            <a:srgbClr val="A95B95"/>
          </a:solidFill>
          <a:ln/>
        </p:spPr>
      </p:sp>
      <p:sp>
        <p:nvSpPr>
          <p:cNvPr id="10" name="Text 7"/>
          <p:cNvSpPr/>
          <p:nvPr/>
        </p:nvSpPr>
        <p:spPr>
          <a:xfrm>
            <a:off x="4935855" y="1844754"/>
            <a:ext cx="2369701" cy="260985"/>
          </a:xfrm>
          <a:prstGeom prst="rect">
            <a:avLst/>
          </a:prstGeom>
          <a:noFill/>
          <a:ln/>
        </p:spPr>
        <p:txBody>
          <a:bodyPr wrap="none" lIns="0" tIns="0" rIns="0" bIns="0" rtlCol="0" anchor="t"/>
          <a:lstStyle/>
          <a:p>
            <a:pPr marL="0" indent="0" algn="l">
              <a:lnSpc>
                <a:spcPts val="2050"/>
              </a:lnSpc>
              <a:buNone/>
            </a:pPr>
            <a:r>
              <a:rPr lang="en-US" sz="1600" dirty="0">
                <a:solidFill>
                  <a:srgbClr val="DAD8E9"/>
                </a:solidFill>
                <a:latin typeface="Prompt Medium" pitchFamily="34" charset="0"/>
                <a:ea typeface="Prompt Medium" pitchFamily="34" charset="-122"/>
                <a:cs typeface="Prompt Medium" pitchFamily="34" charset="-120"/>
              </a:rPr>
              <a:t>The Customization Gap</a:t>
            </a:r>
            <a:endParaRPr lang="en-US" sz="1600" dirty="0"/>
          </a:p>
        </p:txBody>
      </p:sp>
      <p:sp>
        <p:nvSpPr>
          <p:cNvPr id="11" name="Text 8"/>
          <p:cNvSpPr/>
          <p:nvPr/>
        </p:nvSpPr>
        <p:spPr>
          <a:xfrm>
            <a:off x="4935855" y="2207181"/>
            <a:ext cx="3161943" cy="2000250"/>
          </a:xfrm>
          <a:prstGeom prst="rect">
            <a:avLst/>
          </a:prstGeom>
          <a:noFill/>
          <a:ln/>
        </p:spPr>
        <p:txBody>
          <a:bodyPr wrap="square" lIns="0" tIns="0" rIns="0" bIns="0" rtlCol="0" anchor="t"/>
          <a:lstStyle/>
          <a:p>
            <a:pPr marL="0" indent="0" algn="l">
              <a:lnSpc>
                <a:spcPts val="2250"/>
              </a:lnSpc>
              <a:buNone/>
            </a:pPr>
            <a:r>
              <a:rPr lang="en-US" sz="1450" dirty="0">
                <a:solidFill>
                  <a:srgbClr val="DAD8E9"/>
                </a:solidFill>
                <a:latin typeface="Mukta Light" pitchFamily="34" charset="0"/>
                <a:ea typeface="Mukta Light" pitchFamily="34" charset="-122"/>
                <a:cs typeface="Mukta Light" pitchFamily="34" charset="-120"/>
              </a:rPr>
              <a:t>Each industry, role, and experience level requires different resume approaches. Entry-level candidates need to emphasize education and projects, while experienced professionals must highlight quantifiable achievements and leadership impact.</a:t>
            </a:r>
            <a:endParaRPr lang="en-US" sz="1450" dirty="0"/>
          </a:p>
        </p:txBody>
      </p:sp>
      <p:sp>
        <p:nvSpPr>
          <p:cNvPr id="12" name="Shape 9"/>
          <p:cNvSpPr/>
          <p:nvPr/>
        </p:nvSpPr>
        <p:spPr>
          <a:xfrm>
            <a:off x="835462" y="4587359"/>
            <a:ext cx="3651885" cy="2784158"/>
          </a:xfrm>
          <a:prstGeom prst="roundRect">
            <a:avLst>
              <a:gd name="adj" fmla="val 3941"/>
            </a:avLst>
          </a:prstGeom>
          <a:solidFill>
            <a:srgbClr val="0B0C23">
              <a:alpha val="95000"/>
            </a:srgbClr>
          </a:solidFill>
          <a:ln w="22860">
            <a:solidFill>
              <a:srgbClr val="6D4562"/>
            </a:solidFill>
            <a:prstDash val="solid"/>
          </a:ln>
        </p:spPr>
      </p:sp>
      <p:sp>
        <p:nvSpPr>
          <p:cNvPr id="13" name="Shape 10"/>
          <p:cNvSpPr/>
          <p:nvPr/>
        </p:nvSpPr>
        <p:spPr>
          <a:xfrm>
            <a:off x="812602" y="4587359"/>
            <a:ext cx="91440" cy="2784158"/>
          </a:xfrm>
          <a:prstGeom prst="roundRect">
            <a:avLst>
              <a:gd name="adj" fmla="val 86350"/>
            </a:avLst>
          </a:prstGeom>
          <a:solidFill>
            <a:srgbClr val="A95B95"/>
          </a:solidFill>
          <a:ln/>
        </p:spPr>
      </p:sp>
      <p:sp>
        <p:nvSpPr>
          <p:cNvPr id="14" name="Text 11"/>
          <p:cNvSpPr/>
          <p:nvPr/>
        </p:nvSpPr>
        <p:spPr>
          <a:xfrm>
            <a:off x="1114782" y="4798100"/>
            <a:ext cx="2322552" cy="260985"/>
          </a:xfrm>
          <a:prstGeom prst="rect">
            <a:avLst/>
          </a:prstGeom>
          <a:noFill/>
          <a:ln/>
        </p:spPr>
        <p:txBody>
          <a:bodyPr wrap="none" lIns="0" tIns="0" rIns="0" bIns="0" rtlCol="0" anchor="t"/>
          <a:lstStyle/>
          <a:p>
            <a:pPr marL="0" indent="0" algn="l">
              <a:lnSpc>
                <a:spcPts val="2050"/>
              </a:lnSpc>
              <a:buNone/>
            </a:pPr>
            <a:r>
              <a:rPr lang="en-US" sz="1600" dirty="0">
                <a:solidFill>
                  <a:srgbClr val="DAD8E9"/>
                </a:solidFill>
                <a:latin typeface="Prompt Medium" pitchFamily="34" charset="0"/>
                <a:ea typeface="Prompt Medium" pitchFamily="34" charset="-122"/>
                <a:cs typeface="Prompt Medium" pitchFamily="34" charset="-120"/>
              </a:rPr>
              <a:t>The Knowledge Deficit</a:t>
            </a:r>
            <a:endParaRPr lang="en-US" sz="1600" dirty="0"/>
          </a:p>
        </p:txBody>
      </p:sp>
      <p:sp>
        <p:nvSpPr>
          <p:cNvPr id="15" name="Text 12"/>
          <p:cNvSpPr/>
          <p:nvPr/>
        </p:nvSpPr>
        <p:spPr>
          <a:xfrm>
            <a:off x="1114782" y="5160526"/>
            <a:ext cx="3161824" cy="2000250"/>
          </a:xfrm>
          <a:prstGeom prst="rect">
            <a:avLst/>
          </a:prstGeom>
          <a:noFill/>
          <a:ln/>
        </p:spPr>
        <p:txBody>
          <a:bodyPr wrap="square" lIns="0" tIns="0" rIns="0" bIns="0" rtlCol="0" anchor="t"/>
          <a:lstStyle/>
          <a:p>
            <a:pPr marL="0" indent="0" algn="l">
              <a:lnSpc>
                <a:spcPts val="2250"/>
              </a:lnSpc>
              <a:buNone/>
            </a:pPr>
            <a:r>
              <a:rPr lang="en-US" sz="1450" dirty="0">
                <a:solidFill>
                  <a:srgbClr val="DAD8E9"/>
                </a:solidFill>
                <a:latin typeface="Mukta Light" pitchFamily="34" charset="0"/>
                <a:ea typeface="Mukta Light" pitchFamily="34" charset="-122"/>
                <a:cs typeface="Mukta Light" pitchFamily="34" charset="-120"/>
              </a:rPr>
              <a:t>Most job seekers lack awareness of industry-standard requirements for their target roles. Without understanding which skills are essential versus optional, candidates cannot effectively position themselves or identify areas for professional development.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81063" y="797362"/>
            <a:ext cx="2260878" cy="386596"/>
          </a:xfrm>
          <a:prstGeom prst="roundRect">
            <a:avLst>
              <a:gd name="adj" fmla="val 18189"/>
            </a:avLst>
          </a:prstGeom>
          <a:solidFill>
            <a:srgbClr val="321A2C"/>
          </a:solidFill>
          <a:ln/>
        </p:spPr>
      </p:sp>
      <p:sp>
        <p:nvSpPr>
          <p:cNvPr id="3" name="Text 1"/>
          <p:cNvSpPr/>
          <p:nvPr/>
        </p:nvSpPr>
        <p:spPr>
          <a:xfrm>
            <a:off x="1006554" y="860108"/>
            <a:ext cx="2009894" cy="261104"/>
          </a:xfrm>
          <a:prstGeom prst="rect">
            <a:avLst/>
          </a:prstGeom>
          <a:noFill/>
          <a:ln/>
        </p:spPr>
        <p:txBody>
          <a:bodyPr wrap="none" lIns="0" tIns="0" rIns="0" bIns="0" rtlCol="0" anchor="t"/>
          <a:lstStyle/>
          <a:p>
            <a:pPr marL="0" indent="0" algn="l">
              <a:lnSpc>
                <a:spcPts val="2050"/>
              </a:lnSpc>
              <a:buNone/>
            </a:pPr>
            <a:r>
              <a:rPr lang="en-US" sz="1300" dirty="0">
                <a:solidFill>
                  <a:srgbClr val="DAD8E9"/>
                </a:solidFill>
                <a:latin typeface="Mukta Light" pitchFamily="34" charset="0"/>
                <a:ea typeface="Mukta Light" pitchFamily="34" charset="-122"/>
                <a:cs typeface="Mukta Light" pitchFamily="34" charset="-120"/>
              </a:rPr>
              <a:t>UNIQUE VALUE PROPOSITION</a:t>
            </a:r>
            <a:endParaRPr lang="en-US" sz="1300" dirty="0"/>
          </a:p>
        </p:txBody>
      </p:sp>
      <p:sp>
        <p:nvSpPr>
          <p:cNvPr id="4" name="Text 2"/>
          <p:cNvSpPr/>
          <p:nvPr/>
        </p:nvSpPr>
        <p:spPr>
          <a:xfrm>
            <a:off x="881063" y="1263372"/>
            <a:ext cx="9133284" cy="581263"/>
          </a:xfrm>
          <a:prstGeom prst="rect">
            <a:avLst/>
          </a:prstGeom>
          <a:noFill/>
          <a:ln/>
        </p:spPr>
        <p:txBody>
          <a:bodyPr wrap="none" lIns="0" tIns="0" rIns="0" bIns="0" rtlCol="0" anchor="t"/>
          <a:lstStyle/>
          <a:p>
            <a:pPr marL="0" indent="0" algn="l">
              <a:lnSpc>
                <a:spcPts val="4550"/>
              </a:lnSpc>
              <a:buNone/>
            </a:pPr>
            <a:r>
              <a:rPr lang="en-US" sz="3650" dirty="0">
                <a:solidFill>
                  <a:srgbClr val="C6BFEE"/>
                </a:solidFill>
                <a:latin typeface="Prompt Medium" pitchFamily="34" charset="0"/>
                <a:ea typeface="Prompt Medium" pitchFamily="34" charset="-122"/>
                <a:cs typeface="Prompt Medium" pitchFamily="34" charset="-120"/>
              </a:rPr>
              <a:t>Why Gosh Resume Builder Stands Apart</a:t>
            </a:r>
            <a:endParaRPr lang="en-US" sz="3650" dirty="0"/>
          </a:p>
        </p:txBody>
      </p:sp>
      <p:pic>
        <p:nvPicPr>
          <p:cNvPr id="5" name="Image 0" descr="preencoded.png"/>
          <p:cNvPicPr>
            <a:picLocks noChangeAspect="1"/>
          </p:cNvPicPr>
          <p:nvPr/>
        </p:nvPicPr>
        <p:blipFill>
          <a:blip r:embed="rId3"/>
          <a:stretch>
            <a:fillRect/>
          </a:stretch>
        </p:blipFill>
        <p:spPr>
          <a:xfrm>
            <a:off x="881063" y="2366367"/>
            <a:ext cx="4598908" cy="4598908"/>
          </a:xfrm>
          <a:prstGeom prst="rect">
            <a:avLst/>
          </a:prstGeom>
        </p:spPr>
      </p:pic>
      <p:sp>
        <p:nvSpPr>
          <p:cNvPr id="6" name="Text 3"/>
          <p:cNvSpPr/>
          <p:nvPr/>
        </p:nvSpPr>
        <p:spPr>
          <a:xfrm>
            <a:off x="6240185" y="2341483"/>
            <a:ext cx="4178379" cy="348853"/>
          </a:xfrm>
          <a:prstGeom prst="rect">
            <a:avLst/>
          </a:prstGeom>
          <a:noFill/>
          <a:ln/>
        </p:spPr>
        <p:txBody>
          <a:bodyPr wrap="none" lIns="0" tIns="0" rIns="0" bIns="0" rtlCol="0" anchor="t"/>
          <a:lstStyle/>
          <a:p>
            <a:pPr marL="0" indent="0" algn="l">
              <a:lnSpc>
                <a:spcPts val="2700"/>
              </a:lnSpc>
              <a:buNone/>
            </a:pPr>
            <a:r>
              <a:rPr lang="en-US" sz="2150" dirty="0">
                <a:solidFill>
                  <a:srgbClr val="C6BFEE"/>
                </a:solidFill>
                <a:latin typeface="Prompt Medium" pitchFamily="34" charset="0"/>
                <a:ea typeface="Prompt Medium" pitchFamily="34" charset="-122"/>
                <a:cs typeface="Prompt Medium" pitchFamily="34" charset="-120"/>
              </a:rPr>
              <a:t>Intelligent Career Architecture</a:t>
            </a:r>
            <a:endParaRPr lang="en-US" sz="2150" dirty="0"/>
          </a:p>
        </p:txBody>
      </p:sp>
      <p:sp>
        <p:nvSpPr>
          <p:cNvPr id="7" name="Text 4"/>
          <p:cNvSpPr/>
          <p:nvPr/>
        </p:nvSpPr>
        <p:spPr>
          <a:xfrm>
            <a:off x="6240185" y="2889052"/>
            <a:ext cx="7516654" cy="979408"/>
          </a:xfrm>
          <a:prstGeom prst="rect">
            <a:avLst/>
          </a:prstGeom>
          <a:noFill/>
          <a:ln/>
        </p:spPr>
        <p:txBody>
          <a:bodyPr wrap="square" lIns="0" tIns="0" rIns="0" bIns="0" rtlCol="0" anchor="t"/>
          <a:lstStyle/>
          <a:p>
            <a:pPr marL="0" indent="0" algn="l">
              <a:lnSpc>
                <a:spcPts val="2550"/>
              </a:lnSpc>
              <a:buNone/>
            </a:pPr>
            <a:r>
              <a:rPr lang="en-US" sz="1600" dirty="0">
                <a:solidFill>
                  <a:srgbClr val="DAD8E9"/>
                </a:solidFill>
                <a:latin typeface="Mukta Light" pitchFamily="34" charset="0"/>
                <a:ea typeface="Mukta Light" pitchFamily="34" charset="-122"/>
                <a:cs typeface="Mukta Light" pitchFamily="34" charset="-120"/>
              </a:rPr>
              <a:t>We don't just generate resumes—we architect your professional story. Our AI acts as your personal career consultant, analyzing your background against industry standards and crafting documents that pass ATS systems while impressing human recruiters.</a:t>
            </a:r>
            <a:endParaRPr lang="en-US" sz="1600" dirty="0"/>
          </a:p>
        </p:txBody>
      </p:sp>
      <p:sp>
        <p:nvSpPr>
          <p:cNvPr id="8" name="Shape 5"/>
          <p:cNvSpPr/>
          <p:nvPr/>
        </p:nvSpPr>
        <p:spPr>
          <a:xfrm>
            <a:off x="6240185" y="4092059"/>
            <a:ext cx="470773" cy="470773"/>
          </a:xfrm>
          <a:prstGeom prst="roundRect">
            <a:avLst>
              <a:gd name="adj" fmla="val 18671"/>
            </a:avLst>
          </a:prstGeom>
          <a:solidFill>
            <a:srgbClr val="542C49"/>
          </a:solidFill>
          <a:ln w="7620">
            <a:solidFill>
              <a:srgbClr val="6D4562"/>
            </a:solidFill>
            <a:prstDash val="solid"/>
          </a:ln>
        </p:spPr>
      </p:sp>
      <p:sp>
        <p:nvSpPr>
          <p:cNvPr id="9" name="Text 6"/>
          <p:cNvSpPr/>
          <p:nvPr/>
        </p:nvSpPr>
        <p:spPr>
          <a:xfrm>
            <a:off x="6909673" y="4163973"/>
            <a:ext cx="2841903" cy="290632"/>
          </a:xfrm>
          <a:prstGeom prst="rect">
            <a:avLst/>
          </a:prstGeom>
          <a:noFill/>
          <a:ln/>
        </p:spPr>
        <p:txBody>
          <a:bodyPr wrap="none" lIns="0" tIns="0" rIns="0" bIns="0" rtlCol="0" anchor="t"/>
          <a:lstStyle/>
          <a:p>
            <a:pPr marL="0" indent="0" algn="l">
              <a:lnSpc>
                <a:spcPts val="2250"/>
              </a:lnSpc>
              <a:buNone/>
            </a:pPr>
            <a:r>
              <a:rPr lang="en-US" sz="1800" dirty="0">
                <a:solidFill>
                  <a:srgbClr val="DAD8E9"/>
                </a:solidFill>
                <a:latin typeface="Prompt Medium" pitchFamily="34" charset="0"/>
                <a:ea typeface="Prompt Medium" pitchFamily="34" charset="-122"/>
                <a:cs typeface="Prompt Medium" pitchFamily="34" charset="-120"/>
              </a:rPr>
              <a:t>AI-Driven Personalization</a:t>
            </a:r>
            <a:endParaRPr lang="en-US" sz="1800" dirty="0"/>
          </a:p>
        </p:txBody>
      </p:sp>
      <p:sp>
        <p:nvSpPr>
          <p:cNvPr id="10" name="Text 7"/>
          <p:cNvSpPr/>
          <p:nvPr/>
        </p:nvSpPr>
        <p:spPr>
          <a:xfrm>
            <a:off x="6909673" y="4653320"/>
            <a:ext cx="2964537" cy="979408"/>
          </a:xfrm>
          <a:prstGeom prst="rect">
            <a:avLst/>
          </a:prstGeom>
          <a:noFill/>
          <a:ln/>
        </p:spPr>
        <p:txBody>
          <a:bodyPr wrap="square" lIns="0" tIns="0" rIns="0" bIns="0" rtlCol="0" anchor="t"/>
          <a:lstStyle/>
          <a:p>
            <a:pPr marL="0" indent="0" algn="l">
              <a:lnSpc>
                <a:spcPts val="2550"/>
              </a:lnSpc>
              <a:buNone/>
            </a:pPr>
            <a:r>
              <a:rPr lang="en-US" sz="1600" dirty="0">
                <a:solidFill>
                  <a:srgbClr val="DAD8E9"/>
                </a:solidFill>
                <a:latin typeface="Mukta Light" pitchFamily="34" charset="0"/>
                <a:ea typeface="Mukta Light" pitchFamily="34" charset="-122"/>
                <a:cs typeface="Mukta Light" pitchFamily="34" charset="-120"/>
              </a:rPr>
              <a:t>Role-specific content generation based on your experience level and target industry</a:t>
            </a:r>
            <a:endParaRPr lang="en-US" sz="1600" dirty="0"/>
          </a:p>
        </p:txBody>
      </p:sp>
      <p:sp>
        <p:nvSpPr>
          <p:cNvPr id="11" name="Shape 8"/>
          <p:cNvSpPr/>
          <p:nvPr/>
        </p:nvSpPr>
        <p:spPr>
          <a:xfrm>
            <a:off x="10122694" y="4092059"/>
            <a:ext cx="470773" cy="470773"/>
          </a:xfrm>
          <a:prstGeom prst="roundRect">
            <a:avLst>
              <a:gd name="adj" fmla="val 18671"/>
            </a:avLst>
          </a:prstGeom>
          <a:solidFill>
            <a:srgbClr val="542C49"/>
          </a:solidFill>
          <a:ln w="7620">
            <a:solidFill>
              <a:srgbClr val="6D4562"/>
            </a:solidFill>
            <a:prstDash val="solid"/>
          </a:ln>
        </p:spPr>
      </p:sp>
      <p:sp>
        <p:nvSpPr>
          <p:cNvPr id="12" name="Text 9"/>
          <p:cNvSpPr/>
          <p:nvPr/>
        </p:nvSpPr>
        <p:spPr>
          <a:xfrm>
            <a:off x="10792182" y="4163973"/>
            <a:ext cx="2964656" cy="581263"/>
          </a:xfrm>
          <a:prstGeom prst="rect">
            <a:avLst/>
          </a:prstGeom>
          <a:noFill/>
          <a:ln/>
        </p:spPr>
        <p:txBody>
          <a:bodyPr wrap="square" lIns="0" tIns="0" rIns="0" bIns="0" rtlCol="0" anchor="t"/>
          <a:lstStyle/>
          <a:p>
            <a:pPr marL="0" indent="0" algn="l">
              <a:lnSpc>
                <a:spcPts val="2250"/>
              </a:lnSpc>
              <a:buNone/>
            </a:pPr>
            <a:r>
              <a:rPr lang="en-US" sz="1800" dirty="0">
                <a:solidFill>
                  <a:srgbClr val="DAD8E9"/>
                </a:solidFill>
                <a:latin typeface="Prompt Medium" pitchFamily="34" charset="0"/>
                <a:ea typeface="Prompt Medium" pitchFamily="34" charset="-122"/>
                <a:cs typeface="Prompt Medium" pitchFamily="34" charset="-120"/>
              </a:rPr>
              <a:t>Real-Time Skill Gap Analysis</a:t>
            </a:r>
            <a:endParaRPr lang="en-US" sz="1800" dirty="0"/>
          </a:p>
        </p:txBody>
      </p:sp>
      <p:sp>
        <p:nvSpPr>
          <p:cNvPr id="13" name="Text 10"/>
          <p:cNvSpPr/>
          <p:nvPr/>
        </p:nvSpPr>
        <p:spPr>
          <a:xfrm>
            <a:off x="10792182" y="4943951"/>
            <a:ext cx="2964656" cy="979408"/>
          </a:xfrm>
          <a:prstGeom prst="rect">
            <a:avLst/>
          </a:prstGeom>
          <a:noFill/>
          <a:ln/>
        </p:spPr>
        <p:txBody>
          <a:bodyPr wrap="square" lIns="0" tIns="0" rIns="0" bIns="0" rtlCol="0" anchor="t"/>
          <a:lstStyle/>
          <a:p>
            <a:pPr marL="0" indent="0" algn="l">
              <a:lnSpc>
                <a:spcPts val="2550"/>
              </a:lnSpc>
              <a:buNone/>
            </a:pPr>
            <a:r>
              <a:rPr lang="en-US" sz="1600" dirty="0">
                <a:solidFill>
                  <a:srgbClr val="DAD8E9"/>
                </a:solidFill>
                <a:latin typeface="Mukta Light" pitchFamily="34" charset="0"/>
                <a:ea typeface="Mukta Light" pitchFamily="34" charset="-122"/>
                <a:cs typeface="Mukta Light" pitchFamily="34" charset="-120"/>
              </a:rPr>
              <a:t>Immediate feedback on missing competencies with learning recommendations</a:t>
            </a:r>
            <a:endParaRPr lang="en-US" sz="1600" dirty="0"/>
          </a:p>
        </p:txBody>
      </p:sp>
      <p:sp>
        <p:nvSpPr>
          <p:cNvPr id="14" name="Shape 11"/>
          <p:cNvSpPr/>
          <p:nvPr/>
        </p:nvSpPr>
        <p:spPr>
          <a:xfrm>
            <a:off x="6240185" y="6320909"/>
            <a:ext cx="470773" cy="470773"/>
          </a:xfrm>
          <a:prstGeom prst="roundRect">
            <a:avLst>
              <a:gd name="adj" fmla="val 18671"/>
            </a:avLst>
          </a:prstGeom>
          <a:solidFill>
            <a:srgbClr val="542C49"/>
          </a:solidFill>
          <a:ln w="7620">
            <a:solidFill>
              <a:srgbClr val="6D4562"/>
            </a:solidFill>
            <a:prstDash val="solid"/>
          </a:ln>
        </p:spPr>
      </p:sp>
      <p:sp>
        <p:nvSpPr>
          <p:cNvPr id="15" name="Text 12"/>
          <p:cNvSpPr/>
          <p:nvPr/>
        </p:nvSpPr>
        <p:spPr>
          <a:xfrm>
            <a:off x="6909673" y="6392823"/>
            <a:ext cx="2325291" cy="290632"/>
          </a:xfrm>
          <a:prstGeom prst="rect">
            <a:avLst/>
          </a:prstGeom>
          <a:noFill/>
          <a:ln/>
        </p:spPr>
        <p:txBody>
          <a:bodyPr wrap="none" lIns="0" tIns="0" rIns="0" bIns="0" rtlCol="0" anchor="t"/>
          <a:lstStyle/>
          <a:p>
            <a:pPr marL="0" indent="0" algn="l">
              <a:lnSpc>
                <a:spcPts val="2250"/>
              </a:lnSpc>
              <a:buNone/>
            </a:pPr>
            <a:r>
              <a:rPr lang="en-US" sz="1800" dirty="0">
                <a:solidFill>
                  <a:srgbClr val="DAD8E9"/>
                </a:solidFill>
                <a:latin typeface="Prompt Medium" pitchFamily="34" charset="0"/>
                <a:ea typeface="Prompt Medium" pitchFamily="34" charset="-122"/>
                <a:cs typeface="Prompt Medium" pitchFamily="34" charset="-120"/>
              </a:rPr>
              <a:t>Template Flexibility</a:t>
            </a:r>
            <a:endParaRPr lang="en-US" sz="1800" dirty="0"/>
          </a:p>
        </p:txBody>
      </p:sp>
      <p:sp>
        <p:nvSpPr>
          <p:cNvPr id="16" name="Text 13"/>
          <p:cNvSpPr/>
          <p:nvPr/>
        </p:nvSpPr>
        <p:spPr>
          <a:xfrm>
            <a:off x="6909673" y="6882170"/>
            <a:ext cx="6847165" cy="326469"/>
          </a:xfrm>
          <a:prstGeom prst="rect">
            <a:avLst/>
          </a:prstGeom>
          <a:noFill/>
          <a:ln/>
        </p:spPr>
        <p:txBody>
          <a:bodyPr wrap="none" lIns="0" tIns="0" rIns="0" bIns="0" rtlCol="0" anchor="t"/>
          <a:lstStyle/>
          <a:p>
            <a:pPr marL="0" indent="0" algn="l">
              <a:lnSpc>
                <a:spcPts val="2550"/>
              </a:lnSpc>
              <a:buNone/>
            </a:pPr>
            <a:r>
              <a:rPr lang="en-US" sz="1600" dirty="0">
                <a:solidFill>
                  <a:srgbClr val="DAD8E9"/>
                </a:solidFill>
                <a:latin typeface="Mukta Light" pitchFamily="34" charset="0"/>
                <a:ea typeface="Mukta Light" pitchFamily="34" charset="-122"/>
                <a:cs typeface="Mukta Light" pitchFamily="34" charset="-120"/>
              </a:rPr>
              <a:t>Choose from professional templates or upload your own—we adapt intelligently</a:t>
            </a:r>
            <a:endParaRPr lang="en-US" sz="1600" dirty="0"/>
          </a:p>
        </p:txBody>
      </p:sp>
      <p:sp>
        <p:nvSpPr>
          <p:cNvPr id="17" name="Rectangle 16">
            <a:extLst>
              <a:ext uri="{FF2B5EF4-FFF2-40B4-BE49-F238E27FC236}">
                <a16:creationId xmlns:a16="http://schemas.microsoft.com/office/drawing/2014/main" id="{D67999F9-FB7D-58AD-FF2F-D30617E4B54A}"/>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81063" y="735092"/>
            <a:ext cx="8145780" cy="520065"/>
          </a:xfrm>
          <a:prstGeom prst="rect">
            <a:avLst/>
          </a:prstGeom>
          <a:noFill/>
          <a:ln/>
        </p:spPr>
        <p:txBody>
          <a:bodyPr wrap="none" lIns="0" tIns="0" rIns="0" bIns="0" rtlCol="0" anchor="t"/>
          <a:lstStyle/>
          <a:p>
            <a:pPr marL="0" indent="0" algn="l">
              <a:lnSpc>
                <a:spcPts val="4050"/>
              </a:lnSpc>
              <a:buNone/>
            </a:pPr>
            <a:r>
              <a:rPr lang="en-US" sz="3250" dirty="0">
                <a:solidFill>
                  <a:srgbClr val="C6BFEE"/>
                </a:solidFill>
                <a:latin typeface="Prompt Medium" pitchFamily="34" charset="0"/>
                <a:ea typeface="Prompt Medium" pitchFamily="34" charset="-122"/>
                <a:cs typeface="Prompt Medium" pitchFamily="34" charset="-120"/>
              </a:rPr>
              <a:t>Distinctive Features That Deliver Results</a:t>
            </a:r>
            <a:endParaRPr lang="en-US" sz="32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1063" y="1573411"/>
            <a:ext cx="468035" cy="468035"/>
          </a:xfrm>
          <a:prstGeom prst="rect">
            <a:avLst/>
          </a:prstGeom>
        </p:spPr>
      </p:pic>
      <p:sp>
        <p:nvSpPr>
          <p:cNvPr id="4" name="Text 1"/>
          <p:cNvSpPr/>
          <p:nvPr/>
        </p:nvSpPr>
        <p:spPr>
          <a:xfrm>
            <a:off x="881063" y="2240399"/>
            <a:ext cx="2218134" cy="259913"/>
          </a:xfrm>
          <a:prstGeom prst="rect">
            <a:avLst/>
          </a:prstGeom>
          <a:noFill/>
          <a:ln/>
        </p:spPr>
        <p:txBody>
          <a:bodyPr wrap="none" lIns="0" tIns="0" rIns="0" bIns="0" rtlCol="0" anchor="t"/>
          <a:lstStyle/>
          <a:p>
            <a:pPr marL="0" indent="0" algn="l">
              <a:lnSpc>
                <a:spcPts val="2000"/>
              </a:lnSpc>
              <a:buNone/>
            </a:pPr>
            <a:r>
              <a:rPr lang="en-US" sz="1600" dirty="0">
                <a:solidFill>
                  <a:srgbClr val="DAD8E9"/>
                </a:solidFill>
                <a:latin typeface="Prompt Medium" pitchFamily="34" charset="0"/>
                <a:ea typeface="Prompt Medium" pitchFamily="34" charset="-122"/>
                <a:cs typeface="Prompt Medium" pitchFamily="34" charset="-120"/>
              </a:rPr>
              <a:t>Dual Template System</a:t>
            </a:r>
            <a:endParaRPr lang="en-US" sz="1600" dirty="0"/>
          </a:p>
        </p:txBody>
      </p:sp>
      <p:sp>
        <p:nvSpPr>
          <p:cNvPr id="5" name="Text 2"/>
          <p:cNvSpPr/>
          <p:nvPr/>
        </p:nvSpPr>
        <p:spPr>
          <a:xfrm>
            <a:off x="881063" y="2595801"/>
            <a:ext cx="6334601" cy="831532"/>
          </a:xfrm>
          <a:prstGeom prst="rect">
            <a:avLst/>
          </a:prstGeom>
          <a:noFill/>
          <a:ln/>
        </p:spPr>
        <p:txBody>
          <a:bodyPr wrap="square" lIns="0" tIns="0" rIns="0" bIns="0" rtlCol="0" anchor="t"/>
          <a:lstStyle/>
          <a:p>
            <a:pPr marL="0" indent="0" algn="l">
              <a:lnSpc>
                <a:spcPts val="2150"/>
              </a:lnSpc>
              <a:buNone/>
            </a:pPr>
            <a:r>
              <a:rPr lang="en-US" sz="1450" dirty="0">
                <a:solidFill>
                  <a:srgbClr val="DAD8E9"/>
                </a:solidFill>
                <a:latin typeface="Mukta Light" pitchFamily="34" charset="0"/>
                <a:ea typeface="Mukta Light" pitchFamily="34" charset="-122"/>
                <a:cs typeface="Mukta Light" pitchFamily="34" charset="-120"/>
              </a:rPr>
              <a:t>Select from built-in professional templates (Minimal ATS-Friendly, Corporate Professional, Modern Tech, Academic CV) or upload your custom design. Our AI preserves your formatting while intelligently replacing content.</a:t>
            </a:r>
            <a:endParaRPr lang="en-US" sz="14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14617" y="1573411"/>
            <a:ext cx="468035" cy="468035"/>
          </a:xfrm>
          <a:prstGeom prst="rect">
            <a:avLst/>
          </a:prstGeom>
        </p:spPr>
      </p:pic>
      <p:sp>
        <p:nvSpPr>
          <p:cNvPr id="7" name="Text 3"/>
          <p:cNvSpPr/>
          <p:nvPr/>
        </p:nvSpPr>
        <p:spPr>
          <a:xfrm>
            <a:off x="7414617" y="2240399"/>
            <a:ext cx="3326606" cy="259913"/>
          </a:xfrm>
          <a:prstGeom prst="rect">
            <a:avLst/>
          </a:prstGeom>
          <a:noFill/>
          <a:ln/>
        </p:spPr>
        <p:txBody>
          <a:bodyPr wrap="none" lIns="0" tIns="0" rIns="0" bIns="0" rtlCol="0" anchor="t"/>
          <a:lstStyle/>
          <a:p>
            <a:pPr marL="0" indent="0" algn="l">
              <a:lnSpc>
                <a:spcPts val="2000"/>
              </a:lnSpc>
              <a:buNone/>
            </a:pPr>
            <a:r>
              <a:rPr lang="en-US" sz="1600" dirty="0">
                <a:solidFill>
                  <a:srgbClr val="DAD8E9"/>
                </a:solidFill>
                <a:latin typeface="Prompt Medium" pitchFamily="34" charset="0"/>
                <a:ea typeface="Prompt Medium" pitchFamily="34" charset="-122"/>
                <a:cs typeface="Prompt Medium" pitchFamily="34" charset="-120"/>
              </a:rPr>
              <a:t>Achievement-Focused Language</a:t>
            </a:r>
            <a:endParaRPr lang="en-US" sz="1600" dirty="0"/>
          </a:p>
        </p:txBody>
      </p:sp>
      <p:sp>
        <p:nvSpPr>
          <p:cNvPr id="8" name="Text 4"/>
          <p:cNvSpPr/>
          <p:nvPr/>
        </p:nvSpPr>
        <p:spPr>
          <a:xfrm>
            <a:off x="7414617" y="2595801"/>
            <a:ext cx="6334720" cy="831532"/>
          </a:xfrm>
          <a:prstGeom prst="rect">
            <a:avLst/>
          </a:prstGeom>
          <a:noFill/>
          <a:ln/>
        </p:spPr>
        <p:txBody>
          <a:bodyPr wrap="square" lIns="0" tIns="0" rIns="0" bIns="0" rtlCol="0" anchor="t"/>
          <a:lstStyle/>
          <a:p>
            <a:pPr marL="0" indent="0" algn="l">
              <a:lnSpc>
                <a:spcPts val="2150"/>
              </a:lnSpc>
              <a:buNone/>
            </a:pPr>
            <a:r>
              <a:rPr lang="en-US" sz="1450" dirty="0">
                <a:solidFill>
                  <a:srgbClr val="DAD8E9"/>
                </a:solidFill>
                <a:latin typeface="Mukta Light" pitchFamily="34" charset="0"/>
                <a:ea typeface="Mukta Light" pitchFamily="34" charset="-122"/>
                <a:cs typeface="Mukta Light" pitchFamily="34" charset="-120"/>
              </a:rPr>
              <a:t>Automatically transforms basic job descriptions into impact-driven, quantifiable achievements using professional, concise language that resonates with hiring managers.</a:t>
            </a:r>
            <a:endParaRPr lang="en-US" sz="14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1063" y="3745587"/>
            <a:ext cx="468035" cy="468035"/>
          </a:xfrm>
          <a:prstGeom prst="rect">
            <a:avLst/>
          </a:prstGeom>
        </p:spPr>
      </p:pic>
      <p:sp>
        <p:nvSpPr>
          <p:cNvPr id="10" name="Text 5"/>
          <p:cNvSpPr/>
          <p:nvPr/>
        </p:nvSpPr>
        <p:spPr>
          <a:xfrm>
            <a:off x="881063" y="4412575"/>
            <a:ext cx="3196828" cy="259913"/>
          </a:xfrm>
          <a:prstGeom prst="rect">
            <a:avLst/>
          </a:prstGeom>
          <a:noFill/>
          <a:ln/>
        </p:spPr>
        <p:txBody>
          <a:bodyPr wrap="none" lIns="0" tIns="0" rIns="0" bIns="0" rtlCol="0" anchor="t"/>
          <a:lstStyle/>
          <a:p>
            <a:pPr marL="0" indent="0" algn="l">
              <a:lnSpc>
                <a:spcPts val="2000"/>
              </a:lnSpc>
              <a:buNone/>
            </a:pPr>
            <a:r>
              <a:rPr lang="en-US" sz="1600" dirty="0">
                <a:solidFill>
                  <a:srgbClr val="DAD8E9"/>
                </a:solidFill>
                <a:latin typeface="Prompt Medium" pitchFamily="34" charset="0"/>
                <a:ea typeface="Prompt Medium" pitchFamily="34" charset="-122"/>
                <a:cs typeface="Prompt Medium" pitchFamily="34" charset="-120"/>
              </a:rPr>
              <a:t>Comprehensive Data Collection</a:t>
            </a:r>
            <a:endParaRPr lang="en-US" sz="1600" dirty="0"/>
          </a:p>
        </p:txBody>
      </p:sp>
      <p:sp>
        <p:nvSpPr>
          <p:cNvPr id="11" name="Text 6"/>
          <p:cNvSpPr/>
          <p:nvPr/>
        </p:nvSpPr>
        <p:spPr>
          <a:xfrm>
            <a:off x="881063" y="4767977"/>
            <a:ext cx="6334601" cy="831532"/>
          </a:xfrm>
          <a:prstGeom prst="rect">
            <a:avLst/>
          </a:prstGeom>
          <a:noFill/>
          <a:ln/>
        </p:spPr>
        <p:txBody>
          <a:bodyPr wrap="square" lIns="0" tIns="0" rIns="0" bIns="0" rtlCol="0" anchor="t"/>
          <a:lstStyle/>
          <a:p>
            <a:pPr marL="0" indent="0" algn="l">
              <a:lnSpc>
                <a:spcPts val="2150"/>
              </a:lnSpc>
              <a:buNone/>
            </a:pPr>
            <a:r>
              <a:rPr lang="en-US" sz="1450" dirty="0">
                <a:solidFill>
                  <a:srgbClr val="DAD8E9"/>
                </a:solidFill>
                <a:latin typeface="Mukta Light" pitchFamily="34" charset="0"/>
                <a:ea typeface="Mukta Light" pitchFamily="34" charset="-122"/>
                <a:cs typeface="Mukta Light" pitchFamily="34" charset="-120"/>
              </a:rPr>
              <a:t>Guided step-by-step input flow captures all essential information: contact details, education, skills, projects, certifications, and achievements—ensuring nothing important is overlooked.</a:t>
            </a:r>
            <a:endParaRPr lang="en-US" sz="145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14617" y="3745587"/>
            <a:ext cx="468035" cy="468035"/>
          </a:xfrm>
          <a:prstGeom prst="rect">
            <a:avLst/>
          </a:prstGeom>
        </p:spPr>
      </p:pic>
      <p:sp>
        <p:nvSpPr>
          <p:cNvPr id="13" name="Text 7"/>
          <p:cNvSpPr/>
          <p:nvPr/>
        </p:nvSpPr>
        <p:spPr>
          <a:xfrm>
            <a:off x="7414617" y="4412575"/>
            <a:ext cx="2393752" cy="259913"/>
          </a:xfrm>
          <a:prstGeom prst="rect">
            <a:avLst/>
          </a:prstGeom>
          <a:noFill/>
          <a:ln/>
        </p:spPr>
        <p:txBody>
          <a:bodyPr wrap="none" lIns="0" tIns="0" rIns="0" bIns="0" rtlCol="0" anchor="t"/>
          <a:lstStyle/>
          <a:p>
            <a:pPr marL="0" indent="0" algn="l">
              <a:lnSpc>
                <a:spcPts val="2000"/>
              </a:lnSpc>
              <a:buNone/>
            </a:pPr>
            <a:r>
              <a:rPr lang="en-US" sz="1600" dirty="0">
                <a:solidFill>
                  <a:srgbClr val="DAD8E9"/>
                </a:solidFill>
                <a:latin typeface="Prompt Medium" pitchFamily="34" charset="0"/>
                <a:ea typeface="Prompt Medium" pitchFamily="34" charset="-122"/>
                <a:cs typeface="Prompt Medium" pitchFamily="34" charset="-120"/>
              </a:rPr>
              <a:t>Intelligent Skill Analysis</a:t>
            </a:r>
            <a:endParaRPr lang="en-US" sz="1600" dirty="0"/>
          </a:p>
        </p:txBody>
      </p:sp>
      <p:sp>
        <p:nvSpPr>
          <p:cNvPr id="14" name="Text 8"/>
          <p:cNvSpPr/>
          <p:nvPr/>
        </p:nvSpPr>
        <p:spPr>
          <a:xfrm>
            <a:off x="7414617" y="4767977"/>
            <a:ext cx="6334720" cy="831532"/>
          </a:xfrm>
          <a:prstGeom prst="rect">
            <a:avLst/>
          </a:prstGeom>
          <a:noFill/>
          <a:ln/>
        </p:spPr>
        <p:txBody>
          <a:bodyPr wrap="square" lIns="0" tIns="0" rIns="0" bIns="0" rtlCol="0" anchor="t"/>
          <a:lstStyle/>
          <a:p>
            <a:pPr marL="0" indent="0" algn="l">
              <a:lnSpc>
                <a:spcPts val="2150"/>
              </a:lnSpc>
              <a:buNone/>
            </a:pPr>
            <a:r>
              <a:rPr lang="en-US" sz="1450" dirty="0">
                <a:solidFill>
                  <a:srgbClr val="DAD8E9"/>
                </a:solidFill>
                <a:latin typeface="Mukta Light" pitchFamily="34" charset="0"/>
                <a:ea typeface="Mukta Light" pitchFamily="34" charset="-122"/>
                <a:cs typeface="Mukta Light" pitchFamily="34" charset="-120"/>
              </a:rPr>
              <a:t>Compares your qualifications against industry benchmarks, identifies gaps, and provides learning recommendations—all presented separately to keep your resume focused.</a:t>
            </a:r>
            <a:endParaRPr lang="en-US" sz="1450" dirty="0"/>
          </a:p>
        </p:txBody>
      </p:sp>
      <p:pic>
        <p:nvPicPr>
          <p:cNvPr id="15"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1063" y="5917763"/>
            <a:ext cx="468035" cy="468035"/>
          </a:xfrm>
          <a:prstGeom prst="rect">
            <a:avLst/>
          </a:prstGeom>
        </p:spPr>
      </p:pic>
      <p:sp>
        <p:nvSpPr>
          <p:cNvPr id="16" name="Text 9"/>
          <p:cNvSpPr/>
          <p:nvPr/>
        </p:nvSpPr>
        <p:spPr>
          <a:xfrm>
            <a:off x="881063" y="6584752"/>
            <a:ext cx="2205871" cy="259913"/>
          </a:xfrm>
          <a:prstGeom prst="rect">
            <a:avLst/>
          </a:prstGeom>
          <a:noFill/>
          <a:ln/>
        </p:spPr>
        <p:txBody>
          <a:bodyPr wrap="none" lIns="0" tIns="0" rIns="0" bIns="0" rtlCol="0" anchor="t"/>
          <a:lstStyle/>
          <a:p>
            <a:pPr marL="0" indent="0" algn="l">
              <a:lnSpc>
                <a:spcPts val="2000"/>
              </a:lnSpc>
              <a:buNone/>
            </a:pPr>
            <a:r>
              <a:rPr lang="en-US" sz="1600" dirty="0">
                <a:solidFill>
                  <a:srgbClr val="DAD8E9"/>
                </a:solidFill>
                <a:latin typeface="Prompt Medium" pitchFamily="34" charset="0"/>
                <a:ea typeface="Prompt Medium" pitchFamily="34" charset="-122"/>
                <a:cs typeface="Prompt Medium" pitchFamily="34" charset="-120"/>
              </a:rPr>
              <a:t>Ethical AI Compliance</a:t>
            </a:r>
            <a:endParaRPr lang="en-US" sz="1600" dirty="0"/>
          </a:p>
        </p:txBody>
      </p:sp>
      <p:sp>
        <p:nvSpPr>
          <p:cNvPr id="17" name="Text 10"/>
          <p:cNvSpPr/>
          <p:nvPr/>
        </p:nvSpPr>
        <p:spPr>
          <a:xfrm>
            <a:off x="881063" y="6940153"/>
            <a:ext cx="6334601" cy="554355"/>
          </a:xfrm>
          <a:prstGeom prst="rect">
            <a:avLst/>
          </a:prstGeom>
          <a:noFill/>
          <a:ln/>
        </p:spPr>
        <p:txBody>
          <a:bodyPr wrap="square" lIns="0" tIns="0" rIns="0" bIns="0" rtlCol="0" anchor="t"/>
          <a:lstStyle/>
          <a:p>
            <a:pPr marL="0" indent="0" algn="l">
              <a:lnSpc>
                <a:spcPts val="2150"/>
              </a:lnSpc>
              <a:buNone/>
            </a:pPr>
            <a:r>
              <a:rPr lang="en-US" sz="1450" dirty="0">
                <a:solidFill>
                  <a:srgbClr val="DAD8E9"/>
                </a:solidFill>
                <a:latin typeface="Mukta Light" pitchFamily="34" charset="0"/>
                <a:ea typeface="Mukta Light" pitchFamily="34" charset="-122"/>
                <a:cs typeface="Mukta Light" pitchFamily="34" charset="-120"/>
              </a:rPr>
              <a:t>Never invents experience or skills. Maintains accuracy, encourages user review, and protects your data with enterprise-grade security standards.</a:t>
            </a:r>
            <a:endParaRPr lang="en-US" sz="1450" dirty="0"/>
          </a:p>
        </p:txBody>
      </p:sp>
      <p:pic>
        <p:nvPicPr>
          <p:cNvPr id="18"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14617" y="5917763"/>
            <a:ext cx="468035" cy="468035"/>
          </a:xfrm>
          <a:prstGeom prst="rect">
            <a:avLst/>
          </a:prstGeom>
        </p:spPr>
      </p:pic>
      <p:sp>
        <p:nvSpPr>
          <p:cNvPr id="19" name="Text 11"/>
          <p:cNvSpPr/>
          <p:nvPr/>
        </p:nvSpPr>
        <p:spPr>
          <a:xfrm>
            <a:off x="7414617" y="6584752"/>
            <a:ext cx="2387322" cy="259913"/>
          </a:xfrm>
          <a:prstGeom prst="rect">
            <a:avLst/>
          </a:prstGeom>
          <a:noFill/>
          <a:ln/>
        </p:spPr>
        <p:txBody>
          <a:bodyPr wrap="none" lIns="0" tIns="0" rIns="0" bIns="0" rtlCol="0" anchor="t"/>
          <a:lstStyle/>
          <a:p>
            <a:pPr marL="0" indent="0" algn="l">
              <a:lnSpc>
                <a:spcPts val="2000"/>
              </a:lnSpc>
              <a:buNone/>
            </a:pPr>
            <a:r>
              <a:rPr lang="en-US" sz="1600" dirty="0">
                <a:solidFill>
                  <a:srgbClr val="DAD8E9"/>
                </a:solidFill>
                <a:latin typeface="Prompt Medium" pitchFamily="34" charset="0"/>
                <a:ea typeface="Prompt Medium" pitchFamily="34" charset="-122"/>
                <a:cs typeface="Prompt Medium" pitchFamily="34" charset="-120"/>
              </a:rPr>
              <a:t>UX-Optimized Interface</a:t>
            </a:r>
            <a:endParaRPr lang="en-US" sz="1600" dirty="0"/>
          </a:p>
        </p:txBody>
      </p:sp>
      <p:sp>
        <p:nvSpPr>
          <p:cNvPr id="20" name="Text 12"/>
          <p:cNvSpPr/>
          <p:nvPr/>
        </p:nvSpPr>
        <p:spPr>
          <a:xfrm>
            <a:off x="7414617" y="6940153"/>
            <a:ext cx="6334720" cy="554355"/>
          </a:xfrm>
          <a:prstGeom prst="rect">
            <a:avLst/>
          </a:prstGeom>
          <a:noFill/>
          <a:ln/>
        </p:spPr>
        <p:txBody>
          <a:bodyPr wrap="square" lIns="0" tIns="0" rIns="0" bIns="0" rtlCol="0" anchor="t"/>
          <a:lstStyle/>
          <a:p>
            <a:pPr marL="0" indent="0" algn="l">
              <a:lnSpc>
                <a:spcPts val="2150"/>
              </a:lnSpc>
              <a:buNone/>
            </a:pPr>
            <a:r>
              <a:rPr lang="en-US" sz="1450" dirty="0">
                <a:solidFill>
                  <a:srgbClr val="DAD8E9"/>
                </a:solidFill>
                <a:latin typeface="Mukta Light" pitchFamily="34" charset="0"/>
                <a:ea typeface="Mukta Light" pitchFamily="34" charset="-122"/>
                <a:cs typeface="Mukta Light" pitchFamily="34" charset="-120"/>
              </a:rPr>
              <a:t>Dark theme professional design with clean typography, real-time preview capability, and seamless export options in PDF or DOCX formats.</a:t>
            </a:r>
            <a:endParaRPr lang="en-US" sz="1450" dirty="0"/>
          </a:p>
        </p:txBody>
      </p:sp>
      <p:sp>
        <p:nvSpPr>
          <p:cNvPr id="21" name="Rectangle 20">
            <a:extLst>
              <a:ext uri="{FF2B5EF4-FFF2-40B4-BE49-F238E27FC236}">
                <a16:creationId xmlns:a16="http://schemas.microsoft.com/office/drawing/2014/main" id="{A07966F8-D155-69F1-FEFB-D1863547D4B4}"/>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81063" y="815459"/>
            <a:ext cx="1396603" cy="308610"/>
          </a:xfrm>
          <a:prstGeom prst="roundRect">
            <a:avLst>
              <a:gd name="adj" fmla="val 19188"/>
            </a:avLst>
          </a:prstGeom>
          <a:solidFill>
            <a:srgbClr val="321A2C"/>
          </a:solidFill>
          <a:ln/>
        </p:spPr>
      </p:sp>
      <p:sp>
        <p:nvSpPr>
          <p:cNvPr id="3" name="Text 1"/>
          <p:cNvSpPr/>
          <p:nvPr/>
        </p:nvSpPr>
        <p:spPr>
          <a:xfrm>
            <a:off x="986790" y="868323"/>
            <a:ext cx="1185148" cy="202883"/>
          </a:xfrm>
          <a:prstGeom prst="rect">
            <a:avLst/>
          </a:prstGeom>
          <a:noFill/>
          <a:ln/>
        </p:spPr>
        <p:txBody>
          <a:bodyPr wrap="none" lIns="0" tIns="0" rIns="0" bIns="0" rtlCol="0" anchor="t"/>
          <a:lstStyle/>
          <a:p>
            <a:pPr marL="0" indent="0" algn="l">
              <a:lnSpc>
                <a:spcPts val="1550"/>
              </a:lnSpc>
              <a:buNone/>
            </a:pPr>
            <a:r>
              <a:rPr lang="en-US" sz="1100" dirty="0">
                <a:solidFill>
                  <a:srgbClr val="DAD8E9"/>
                </a:solidFill>
                <a:latin typeface="Mukta Light" pitchFamily="34" charset="0"/>
                <a:ea typeface="Mukta Light" pitchFamily="34" charset="-122"/>
                <a:cs typeface="Mukta Light" pitchFamily="34" charset="-120"/>
              </a:rPr>
              <a:t>TECHNOLOGY STACK</a:t>
            </a:r>
            <a:endParaRPr lang="en-US" sz="1100" dirty="0"/>
          </a:p>
        </p:txBody>
      </p:sp>
      <p:sp>
        <p:nvSpPr>
          <p:cNvPr id="4" name="Text 2"/>
          <p:cNvSpPr/>
          <p:nvPr/>
        </p:nvSpPr>
        <p:spPr>
          <a:xfrm>
            <a:off x="881063" y="1180386"/>
            <a:ext cx="7449026" cy="489466"/>
          </a:xfrm>
          <a:prstGeom prst="rect">
            <a:avLst/>
          </a:prstGeom>
          <a:noFill/>
          <a:ln/>
        </p:spPr>
        <p:txBody>
          <a:bodyPr wrap="none" lIns="0" tIns="0" rIns="0" bIns="0" rtlCol="0" anchor="t"/>
          <a:lstStyle/>
          <a:p>
            <a:pPr marL="0" indent="0" algn="l">
              <a:lnSpc>
                <a:spcPts val="3850"/>
              </a:lnSpc>
              <a:buNone/>
            </a:pPr>
            <a:r>
              <a:rPr lang="en-US" sz="3050" dirty="0">
                <a:solidFill>
                  <a:srgbClr val="C6BFEE"/>
                </a:solidFill>
                <a:latin typeface="Prompt Medium" pitchFamily="34" charset="0"/>
                <a:ea typeface="Prompt Medium" pitchFamily="34" charset="-122"/>
                <a:cs typeface="Prompt Medium" pitchFamily="34" charset="-120"/>
              </a:rPr>
              <a:t>Built on Modern, Scalable Architecture</a:t>
            </a:r>
            <a:endParaRPr lang="en-US" sz="3050" dirty="0"/>
          </a:p>
        </p:txBody>
      </p:sp>
      <p:sp>
        <p:nvSpPr>
          <p:cNvPr id="5" name="Shape 3"/>
          <p:cNvSpPr/>
          <p:nvPr/>
        </p:nvSpPr>
        <p:spPr>
          <a:xfrm>
            <a:off x="881063" y="1881307"/>
            <a:ext cx="6363653" cy="1874044"/>
          </a:xfrm>
          <a:prstGeom prst="roundRect">
            <a:avLst>
              <a:gd name="adj" fmla="val 3950"/>
            </a:avLst>
          </a:prstGeom>
          <a:solidFill>
            <a:srgbClr val="542C49"/>
          </a:solidFill>
          <a:ln w="7620">
            <a:solidFill>
              <a:srgbClr val="6D4562"/>
            </a:solidFill>
            <a:prstDash val="solid"/>
          </a:ln>
        </p:spPr>
      </p:sp>
      <p:sp>
        <p:nvSpPr>
          <p:cNvPr id="6" name="Shape 4"/>
          <p:cNvSpPr/>
          <p:nvPr/>
        </p:nvSpPr>
        <p:spPr>
          <a:xfrm>
            <a:off x="1064895" y="2065139"/>
            <a:ext cx="528638" cy="528638"/>
          </a:xfrm>
          <a:prstGeom prst="roundRect">
            <a:avLst>
              <a:gd name="adj" fmla="val 17295551"/>
            </a:avLst>
          </a:prstGeom>
          <a:solidFill>
            <a:srgbClr val="A95B95"/>
          </a:solidFill>
          <a:ln/>
        </p:spPr>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0270" y="2210395"/>
            <a:ext cx="237887" cy="237887"/>
          </a:xfrm>
          <a:prstGeom prst="rect">
            <a:avLst/>
          </a:prstGeom>
        </p:spPr>
      </p:pic>
      <p:sp>
        <p:nvSpPr>
          <p:cNvPr id="8" name="Text 5"/>
          <p:cNvSpPr/>
          <p:nvPr/>
        </p:nvSpPr>
        <p:spPr>
          <a:xfrm>
            <a:off x="1064895" y="2734747"/>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Figma</a:t>
            </a:r>
            <a:endParaRPr lang="en-US" sz="1500" dirty="0"/>
          </a:p>
        </p:txBody>
      </p:sp>
      <p:sp>
        <p:nvSpPr>
          <p:cNvPr id="9" name="Text 6"/>
          <p:cNvSpPr/>
          <p:nvPr/>
        </p:nvSpPr>
        <p:spPr>
          <a:xfrm>
            <a:off x="1064895" y="3064073"/>
            <a:ext cx="5995987" cy="253722"/>
          </a:xfrm>
          <a:prstGeom prst="rect">
            <a:avLst/>
          </a:prstGeom>
          <a:noFill/>
          <a:ln/>
        </p:spPr>
        <p:txBody>
          <a:bodyPr wrap="none" lIns="0" tIns="0" rIns="0" bIns="0" rtlCol="0" anchor="t"/>
          <a:lstStyle/>
          <a:p>
            <a:pPr marL="0" indent="0" algn="l">
              <a:lnSpc>
                <a:spcPts val="1950"/>
              </a:lnSpc>
              <a:buNone/>
            </a:pPr>
            <a:r>
              <a:rPr lang="en-US" sz="1350" dirty="0">
                <a:solidFill>
                  <a:srgbClr val="DAD8E9"/>
                </a:solidFill>
                <a:latin typeface="Mukta Light" pitchFamily="34" charset="0"/>
                <a:ea typeface="Mukta Light" pitchFamily="34" charset="-122"/>
                <a:cs typeface="Mukta Light" pitchFamily="34" charset="-120"/>
              </a:rPr>
              <a:t>Professional UI/UX design and prototyping with collaborative workflows</a:t>
            </a:r>
            <a:endParaRPr lang="en-US" sz="1350" dirty="0"/>
          </a:p>
        </p:txBody>
      </p:sp>
      <p:sp>
        <p:nvSpPr>
          <p:cNvPr id="10" name="Shape 7"/>
          <p:cNvSpPr/>
          <p:nvPr/>
        </p:nvSpPr>
        <p:spPr>
          <a:xfrm>
            <a:off x="7385685" y="1881307"/>
            <a:ext cx="6363653" cy="1874044"/>
          </a:xfrm>
          <a:prstGeom prst="roundRect">
            <a:avLst>
              <a:gd name="adj" fmla="val 3950"/>
            </a:avLst>
          </a:prstGeom>
          <a:solidFill>
            <a:srgbClr val="542C49"/>
          </a:solidFill>
          <a:ln w="7620">
            <a:solidFill>
              <a:srgbClr val="6D4562"/>
            </a:solidFill>
            <a:prstDash val="solid"/>
          </a:ln>
        </p:spPr>
      </p:sp>
      <p:sp>
        <p:nvSpPr>
          <p:cNvPr id="11" name="Shape 8"/>
          <p:cNvSpPr/>
          <p:nvPr/>
        </p:nvSpPr>
        <p:spPr>
          <a:xfrm>
            <a:off x="7569517" y="2065139"/>
            <a:ext cx="528638" cy="528638"/>
          </a:xfrm>
          <a:prstGeom prst="roundRect">
            <a:avLst>
              <a:gd name="adj" fmla="val 17295551"/>
            </a:avLst>
          </a:prstGeom>
          <a:solidFill>
            <a:srgbClr val="A95B95"/>
          </a:solidFill>
          <a:ln/>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14893" y="2210395"/>
            <a:ext cx="237887" cy="237887"/>
          </a:xfrm>
          <a:prstGeom prst="rect">
            <a:avLst/>
          </a:prstGeom>
        </p:spPr>
      </p:pic>
      <p:sp>
        <p:nvSpPr>
          <p:cNvPr id="13" name="Text 9"/>
          <p:cNvSpPr/>
          <p:nvPr/>
        </p:nvSpPr>
        <p:spPr>
          <a:xfrm>
            <a:off x="7569517" y="2734747"/>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Advanced AI Engine</a:t>
            </a:r>
            <a:endParaRPr lang="en-US" sz="1500" dirty="0"/>
          </a:p>
        </p:txBody>
      </p:sp>
      <p:sp>
        <p:nvSpPr>
          <p:cNvPr id="14" name="Text 10"/>
          <p:cNvSpPr/>
          <p:nvPr/>
        </p:nvSpPr>
        <p:spPr>
          <a:xfrm>
            <a:off x="7569517" y="3064073"/>
            <a:ext cx="5995987" cy="507444"/>
          </a:xfrm>
          <a:prstGeom prst="rect">
            <a:avLst/>
          </a:prstGeom>
          <a:noFill/>
          <a:ln/>
        </p:spPr>
        <p:txBody>
          <a:bodyPr wrap="square" lIns="0" tIns="0" rIns="0" bIns="0" rtlCol="0" anchor="t"/>
          <a:lstStyle/>
          <a:p>
            <a:pPr marL="0" indent="0" algn="l">
              <a:lnSpc>
                <a:spcPts val="1950"/>
              </a:lnSpc>
              <a:buNone/>
            </a:pPr>
            <a:r>
              <a:rPr lang="en-US" sz="1350" dirty="0">
                <a:solidFill>
                  <a:srgbClr val="DAD8E9"/>
                </a:solidFill>
                <a:latin typeface="Mukta Light" pitchFamily="34" charset="0"/>
                <a:ea typeface="Mukta Light" pitchFamily="34" charset="-122"/>
                <a:cs typeface="Mukta Light" pitchFamily="34" charset="-120"/>
              </a:rPr>
              <a:t>Natural language processing and content generation for intelligent resume creation</a:t>
            </a:r>
            <a:endParaRPr lang="en-US" sz="1350" dirty="0"/>
          </a:p>
        </p:txBody>
      </p:sp>
      <p:sp>
        <p:nvSpPr>
          <p:cNvPr id="15" name="Shape 11"/>
          <p:cNvSpPr/>
          <p:nvPr/>
        </p:nvSpPr>
        <p:spPr>
          <a:xfrm>
            <a:off x="881063" y="3896320"/>
            <a:ext cx="6363653" cy="1620322"/>
          </a:xfrm>
          <a:prstGeom prst="roundRect">
            <a:avLst>
              <a:gd name="adj" fmla="val 4568"/>
            </a:avLst>
          </a:prstGeom>
          <a:solidFill>
            <a:srgbClr val="542C49"/>
          </a:solidFill>
          <a:ln w="7620">
            <a:solidFill>
              <a:srgbClr val="6D4562"/>
            </a:solidFill>
            <a:prstDash val="solid"/>
          </a:ln>
        </p:spPr>
      </p:sp>
      <p:sp>
        <p:nvSpPr>
          <p:cNvPr id="16" name="Shape 12"/>
          <p:cNvSpPr/>
          <p:nvPr/>
        </p:nvSpPr>
        <p:spPr>
          <a:xfrm>
            <a:off x="1064895" y="4080153"/>
            <a:ext cx="528638" cy="528638"/>
          </a:xfrm>
          <a:prstGeom prst="roundRect">
            <a:avLst>
              <a:gd name="adj" fmla="val 17295551"/>
            </a:avLst>
          </a:prstGeom>
          <a:solidFill>
            <a:srgbClr val="A95B95"/>
          </a:solidFill>
          <a:ln/>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10270" y="4225409"/>
            <a:ext cx="237887" cy="237887"/>
          </a:xfrm>
          <a:prstGeom prst="rect">
            <a:avLst/>
          </a:prstGeom>
        </p:spPr>
      </p:pic>
      <p:sp>
        <p:nvSpPr>
          <p:cNvPr id="18" name="Text 13"/>
          <p:cNvSpPr/>
          <p:nvPr/>
        </p:nvSpPr>
        <p:spPr>
          <a:xfrm>
            <a:off x="1064895" y="4749760"/>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Cloud Infrastructure</a:t>
            </a:r>
            <a:endParaRPr lang="en-US" sz="1500" dirty="0"/>
          </a:p>
        </p:txBody>
      </p:sp>
      <p:sp>
        <p:nvSpPr>
          <p:cNvPr id="19" name="Text 14"/>
          <p:cNvSpPr/>
          <p:nvPr/>
        </p:nvSpPr>
        <p:spPr>
          <a:xfrm>
            <a:off x="1064895" y="5079087"/>
            <a:ext cx="5995987" cy="253722"/>
          </a:xfrm>
          <a:prstGeom prst="rect">
            <a:avLst/>
          </a:prstGeom>
          <a:noFill/>
          <a:ln/>
        </p:spPr>
        <p:txBody>
          <a:bodyPr wrap="none" lIns="0" tIns="0" rIns="0" bIns="0" rtlCol="0" anchor="t"/>
          <a:lstStyle/>
          <a:p>
            <a:pPr marL="0" indent="0" algn="l">
              <a:lnSpc>
                <a:spcPts val="1950"/>
              </a:lnSpc>
              <a:buNone/>
            </a:pPr>
            <a:r>
              <a:rPr lang="en-US" sz="1350" dirty="0">
                <a:solidFill>
                  <a:srgbClr val="DAD8E9"/>
                </a:solidFill>
                <a:latin typeface="Mukta Light" pitchFamily="34" charset="0"/>
                <a:ea typeface="Mukta Light" pitchFamily="34" charset="-122"/>
                <a:cs typeface="Mukta Light" pitchFamily="34" charset="-120"/>
              </a:rPr>
              <a:t>Scalable backend supporting real-time processing and secure data handling</a:t>
            </a:r>
            <a:endParaRPr lang="en-US" sz="1350" dirty="0"/>
          </a:p>
        </p:txBody>
      </p:sp>
      <p:sp>
        <p:nvSpPr>
          <p:cNvPr id="20" name="Shape 15"/>
          <p:cNvSpPr/>
          <p:nvPr/>
        </p:nvSpPr>
        <p:spPr>
          <a:xfrm>
            <a:off x="7385685" y="3896320"/>
            <a:ext cx="6363653" cy="1620322"/>
          </a:xfrm>
          <a:prstGeom prst="roundRect">
            <a:avLst>
              <a:gd name="adj" fmla="val 4568"/>
            </a:avLst>
          </a:prstGeom>
          <a:solidFill>
            <a:srgbClr val="542C49"/>
          </a:solidFill>
          <a:ln w="7620">
            <a:solidFill>
              <a:srgbClr val="6D4562"/>
            </a:solidFill>
            <a:prstDash val="solid"/>
          </a:ln>
        </p:spPr>
      </p:sp>
      <p:sp>
        <p:nvSpPr>
          <p:cNvPr id="21" name="Shape 16"/>
          <p:cNvSpPr/>
          <p:nvPr/>
        </p:nvSpPr>
        <p:spPr>
          <a:xfrm>
            <a:off x="7569517" y="4080153"/>
            <a:ext cx="528638" cy="528638"/>
          </a:xfrm>
          <a:prstGeom prst="roundRect">
            <a:avLst>
              <a:gd name="adj" fmla="val 17295551"/>
            </a:avLst>
          </a:prstGeom>
          <a:solidFill>
            <a:srgbClr val="A95B95"/>
          </a:solidFill>
          <a:ln/>
        </p:spPr>
      </p:sp>
      <p:pic>
        <p:nvPicPr>
          <p:cNvPr id="2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14893" y="4225409"/>
            <a:ext cx="237887" cy="237887"/>
          </a:xfrm>
          <a:prstGeom prst="rect">
            <a:avLst/>
          </a:prstGeom>
        </p:spPr>
      </p:pic>
      <p:sp>
        <p:nvSpPr>
          <p:cNvPr id="23" name="Text 17"/>
          <p:cNvSpPr/>
          <p:nvPr/>
        </p:nvSpPr>
        <p:spPr>
          <a:xfrm>
            <a:off x="7569517" y="4749760"/>
            <a:ext cx="217527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Template Management</a:t>
            </a:r>
            <a:endParaRPr lang="en-US" sz="1500" dirty="0"/>
          </a:p>
        </p:txBody>
      </p:sp>
      <p:sp>
        <p:nvSpPr>
          <p:cNvPr id="24" name="Text 18"/>
          <p:cNvSpPr/>
          <p:nvPr/>
        </p:nvSpPr>
        <p:spPr>
          <a:xfrm>
            <a:off x="7569517" y="5079087"/>
            <a:ext cx="5995987" cy="253722"/>
          </a:xfrm>
          <a:prstGeom prst="rect">
            <a:avLst/>
          </a:prstGeom>
          <a:noFill/>
          <a:ln/>
        </p:spPr>
        <p:txBody>
          <a:bodyPr wrap="none" lIns="0" tIns="0" rIns="0" bIns="0" rtlCol="0" anchor="t"/>
          <a:lstStyle/>
          <a:p>
            <a:pPr marL="0" indent="0" algn="l">
              <a:lnSpc>
                <a:spcPts val="1950"/>
              </a:lnSpc>
              <a:buNone/>
            </a:pPr>
            <a:r>
              <a:rPr lang="en-US" sz="1350" dirty="0">
                <a:solidFill>
                  <a:srgbClr val="DAD8E9"/>
                </a:solidFill>
                <a:latin typeface="Mukta Light" pitchFamily="34" charset="0"/>
                <a:ea typeface="Mukta Light" pitchFamily="34" charset="-122"/>
                <a:cs typeface="Mukta Light" pitchFamily="34" charset="-120"/>
              </a:rPr>
              <a:t>Flexible template engine supporting both built-in and user-uploaded designs</a:t>
            </a:r>
            <a:endParaRPr lang="en-US" sz="1350" dirty="0"/>
          </a:p>
        </p:txBody>
      </p:sp>
      <p:sp>
        <p:nvSpPr>
          <p:cNvPr id="25" name="Text 19"/>
          <p:cNvSpPr/>
          <p:nvPr/>
        </p:nvSpPr>
        <p:spPr>
          <a:xfrm>
            <a:off x="881063" y="5816203"/>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C6BFEE"/>
                </a:solidFill>
                <a:latin typeface="Prompt Medium" pitchFamily="34" charset="0"/>
                <a:ea typeface="Prompt Medium" pitchFamily="34" charset="-122"/>
                <a:cs typeface="Prompt Medium" pitchFamily="34" charset="-120"/>
              </a:rPr>
              <a:t>Frontend Excellence</a:t>
            </a:r>
            <a:endParaRPr lang="en-US" sz="1500" dirty="0"/>
          </a:p>
        </p:txBody>
      </p:sp>
      <p:sp>
        <p:nvSpPr>
          <p:cNvPr id="26" name="Text 20"/>
          <p:cNvSpPr/>
          <p:nvPr/>
        </p:nvSpPr>
        <p:spPr>
          <a:xfrm>
            <a:off x="881063" y="6201966"/>
            <a:ext cx="621923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Responsive design optimized for all devices</a:t>
            </a:r>
            <a:endParaRPr lang="en-US" sz="1350" dirty="0"/>
          </a:p>
        </p:txBody>
      </p:sp>
      <p:sp>
        <p:nvSpPr>
          <p:cNvPr id="27" name="Text 21"/>
          <p:cNvSpPr/>
          <p:nvPr/>
        </p:nvSpPr>
        <p:spPr>
          <a:xfrm>
            <a:off x="881063" y="6504980"/>
            <a:ext cx="621923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Dark theme with professional aesthetics</a:t>
            </a:r>
            <a:endParaRPr lang="en-US" sz="1350" dirty="0"/>
          </a:p>
        </p:txBody>
      </p:sp>
      <p:sp>
        <p:nvSpPr>
          <p:cNvPr id="28" name="Text 22"/>
          <p:cNvSpPr/>
          <p:nvPr/>
        </p:nvSpPr>
        <p:spPr>
          <a:xfrm>
            <a:off x="881063" y="6807994"/>
            <a:ext cx="621923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Real-time preview and editing capabilities</a:t>
            </a:r>
            <a:endParaRPr lang="en-US" sz="1350" dirty="0"/>
          </a:p>
        </p:txBody>
      </p:sp>
      <p:sp>
        <p:nvSpPr>
          <p:cNvPr id="29" name="Text 23"/>
          <p:cNvSpPr/>
          <p:nvPr/>
        </p:nvSpPr>
        <p:spPr>
          <a:xfrm>
            <a:off x="881063" y="7111008"/>
            <a:ext cx="621923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Intuitive step-by-step guided workflow</a:t>
            </a:r>
            <a:endParaRPr lang="en-US" sz="1350" dirty="0"/>
          </a:p>
        </p:txBody>
      </p:sp>
      <p:sp>
        <p:nvSpPr>
          <p:cNvPr id="30" name="Text 24"/>
          <p:cNvSpPr/>
          <p:nvPr/>
        </p:nvSpPr>
        <p:spPr>
          <a:xfrm>
            <a:off x="7537728" y="5816203"/>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C6BFEE"/>
                </a:solidFill>
                <a:latin typeface="Prompt Medium" pitchFamily="34" charset="0"/>
                <a:ea typeface="Prompt Medium" pitchFamily="34" charset="-122"/>
                <a:cs typeface="Prompt Medium" pitchFamily="34" charset="-120"/>
              </a:rPr>
              <a:t>Backend Power</a:t>
            </a:r>
            <a:endParaRPr lang="en-US" sz="1500" dirty="0"/>
          </a:p>
        </p:txBody>
      </p:sp>
      <p:sp>
        <p:nvSpPr>
          <p:cNvPr id="31" name="Text 25"/>
          <p:cNvSpPr/>
          <p:nvPr/>
        </p:nvSpPr>
        <p:spPr>
          <a:xfrm>
            <a:off x="7537728" y="6201966"/>
            <a:ext cx="621923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ATS optimization algorithms</a:t>
            </a:r>
            <a:endParaRPr lang="en-US" sz="1350" dirty="0"/>
          </a:p>
        </p:txBody>
      </p:sp>
      <p:sp>
        <p:nvSpPr>
          <p:cNvPr id="32" name="Text 26"/>
          <p:cNvSpPr/>
          <p:nvPr/>
        </p:nvSpPr>
        <p:spPr>
          <a:xfrm>
            <a:off x="7537728" y="6504980"/>
            <a:ext cx="621923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Industry-standard skill databases</a:t>
            </a:r>
            <a:endParaRPr lang="en-US" sz="1350" dirty="0"/>
          </a:p>
        </p:txBody>
      </p:sp>
      <p:sp>
        <p:nvSpPr>
          <p:cNvPr id="33" name="Text 27"/>
          <p:cNvSpPr/>
          <p:nvPr/>
        </p:nvSpPr>
        <p:spPr>
          <a:xfrm>
            <a:off x="7537728" y="6807994"/>
            <a:ext cx="621923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Secure document generation and export</a:t>
            </a:r>
            <a:endParaRPr lang="en-US" sz="1350" dirty="0"/>
          </a:p>
        </p:txBody>
      </p:sp>
      <p:sp>
        <p:nvSpPr>
          <p:cNvPr id="34" name="Text 28"/>
          <p:cNvSpPr/>
          <p:nvPr/>
        </p:nvSpPr>
        <p:spPr>
          <a:xfrm>
            <a:off x="7537728" y="7111008"/>
            <a:ext cx="621923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Performance-optimized processing</a:t>
            </a:r>
            <a:endParaRPr lang="en-US" sz="1350" dirty="0"/>
          </a:p>
        </p:txBody>
      </p:sp>
      <p:sp>
        <p:nvSpPr>
          <p:cNvPr id="35" name="Rectangle 34">
            <a:extLst>
              <a:ext uri="{FF2B5EF4-FFF2-40B4-BE49-F238E27FC236}">
                <a16:creationId xmlns:a16="http://schemas.microsoft.com/office/drawing/2014/main" id="{F62BC7D6-ECDB-2865-34FD-CA37295CC19E}"/>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002155"/>
          </a:xfrm>
          <a:prstGeom prst="rect">
            <a:avLst/>
          </a:prstGeom>
        </p:spPr>
      </p:pic>
      <p:sp>
        <p:nvSpPr>
          <p:cNvPr id="3" name="Text 0"/>
          <p:cNvSpPr/>
          <p:nvPr/>
        </p:nvSpPr>
        <p:spPr>
          <a:xfrm>
            <a:off x="854273" y="2591514"/>
            <a:ext cx="4988004" cy="444937"/>
          </a:xfrm>
          <a:prstGeom prst="rect">
            <a:avLst/>
          </a:prstGeom>
          <a:noFill/>
          <a:ln/>
        </p:spPr>
        <p:txBody>
          <a:bodyPr wrap="none" lIns="0" tIns="0" rIns="0" bIns="0" rtlCol="0" anchor="t"/>
          <a:lstStyle/>
          <a:p>
            <a:pPr marL="0" indent="0" algn="l">
              <a:lnSpc>
                <a:spcPts val="3500"/>
              </a:lnSpc>
              <a:buNone/>
            </a:pPr>
            <a:r>
              <a:rPr lang="en-US" sz="2800" dirty="0">
                <a:solidFill>
                  <a:srgbClr val="C6BFEE"/>
                </a:solidFill>
                <a:latin typeface="Prompt Medium" pitchFamily="34" charset="0"/>
                <a:ea typeface="Prompt Medium" pitchFamily="34" charset="-122"/>
                <a:cs typeface="Prompt Medium" pitchFamily="34" charset="-120"/>
              </a:rPr>
              <a:t>Utility and Value Proposition</a:t>
            </a:r>
            <a:endParaRPr lang="en-US" sz="2800" dirty="0"/>
          </a:p>
        </p:txBody>
      </p:sp>
      <p:sp>
        <p:nvSpPr>
          <p:cNvPr id="4" name="Shape 1"/>
          <p:cNvSpPr/>
          <p:nvPr/>
        </p:nvSpPr>
        <p:spPr>
          <a:xfrm>
            <a:off x="854273" y="4600099"/>
            <a:ext cx="12921853" cy="22860"/>
          </a:xfrm>
          <a:prstGeom prst="roundRect">
            <a:avLst>
              <a:gd name="adj" fmla="val 294292"/>
            </a:avLst>
          </a:prstGeom>
          <a:solidFill>
            <a:srgbClr val="6D4562"/>
          </a:solidFill>
          <a:ln/>
        </p:spPr>
      </p:sp>
      <p:sp>
        <p:nvSpPr>
          <p:cNvPr id="5" name="Shape 2"/>
          <p:cNvSpPr/>
          <p:nvPr/>
        </p:nvSpPr>
        <p:spPr>
          <a:xfrm>
            <a:off x="3381970" y="4119622"/>
            <a:ext cx="22860" cy="480536"/>
          </a:xfrm>
          <a:prstGeom prst="roundRect">
            <a:avLst>
              <a:gd name="adj" fmla="val 294292"/>
            </a:avLst>
          </a:prstGeom>
          <a:solidFill>
            <a:srgbClr val="6D4562"/>
          </a:solidFill>
          <a:ln/>
        </p:spPr>
      </p:sp>
      <p:sp>
        <p:nvSpPr>
          <p:cNvPr id="6" name="Shape 3"/>
          <p:cNvSpPr/>
          <p:nvPr/>
        </p:nvSpPr>
        <p:spPr>
          <a:xfrm>
            <a:off x="3213259" y="4419898"/>
            <a:ext cx="360402" cy="360402"/>
          </a:xfrm>
          <a:prstGeom prst="roundRect">
            <a:avLst>
              <a:gd name="adj" fmla="val 18667"/>
            </a:avLst>
          </a:prstGeom>
          <a:solidFill>
            <a:srgbClr val="542C49"/>
          </a:solidFill>
          <a:ln w="7620">
            <a:solidFill>
              <a:srgbClr val="6D4562"/>
            </a:solidFill>
            <a:prstDash val="solid"/>
          </a:ln>
        </p:spPr>
      </p:sp>
      <p:sp>
        <p:nvSpPr>
          <p:cNvPr id="7" name="Text 4"/>
          <p:cNvSpPr/>
          <p:nvPr/>
        </p:nvSpPr>
        <p:spPr>
          <a:xfrm>
            <a:off x="3286661" y="4466570"/>
            <a:ext cx="213479" cy="266938"/>
          </a:xfrm>
          <a:prstGeom prst="rect">
            <a:avLst/>
          </a:prstGeom>
          <a:noFill/>
          <a:ln/>
        </p:spPr>
        <p:txBody>
          <a:bodyPr wrap="none" lIns="0" tIns="0" rIns="0" bIns="0" rtlCol="0" anchor="t"/>
          <a:lstStyle/>
          <a:p>
            <a:pPr marL="0" indent="0" algn="ctr">
              <a:lnSpc>
                <a:spcPts val="1650"/>
              </a:lnSpc>
              <a:buNone/>
            </a:pPr>
            <a:r>
              <a:rPr lang="en-US" sz="1650" dirty="0">
                <a:solidFill>
                  <a:srgbClr val="DAD8E9"/>
                </a:solidFill>
                <a:latin typeface="Prompt Medium" pitchFamily="34" charset="0"/>
                <a:ea typeface="Prompt Medium" pitchFamily="34" charset="-122"/>
                <a:cs typeface="Prompt Medium" pitchFamily="34" charset="-120"/>
              </a:rPr>
              <a:t>1</a:t>
            </a:r>
            <a:endParaRPr lang="en-US" sz="1650" dirty="0"/>
          </a:p>
        </p:txBody>
      </p:sp>
      <p:sp>
        <p:nvSpPr>
          <p:cNvPr id="8" name="Text 5"/>
          <p:cNvSpPr/>
          <p:nvPr/>
        </p:nvSpPr>
        <p:spPr>
          <a:xfrm>
            <a:off x="2503646" y="3216592"/>
            <a:ext cx="1779746" cy="222409"/>
          </a:xfrm>
          <a:prstGeom prst="rect">
            <a:avLst/>
          </a:prstGeom>
          <a:noFill/>
          <a:ln/>
        </p:spPr>
        <p:txBody>
          <a:bodyPr wrap="none" lIns="0" tIns="0" rIns="0" bIns="0" rtlCol="0" anchor="t"/>
          <a:lstStyle/>
          <a:p>
            <a:pPr marL="0" indent="0" algn="ctr">
              <a:lnSpc>
                <a:spcPts val="1750"/>
              </a:lnSpc>
              <a:buNone/>
            </a:pPr>
            <a:r>
              <a:rPr lang="en-US" sz="1400" dirty="0">
                <a:solidFill>
                  <a:srgbClr val="DAD8E9"/>
                </a:solidFill>
                <a:latin typeface="Prompt Medium" pitchFamily="34" charset="0"/>
                <a:ea typeface="Prompt Medium" pitchFamily="34" charset="-122"/>
                <a:cs typeface="Prompt Medium" pitchFamily="34" charset="-120"/>
              </a:rPr>
              <a:t>Time Savings</a:t>
            </a:r>
            <a:endParaRPr lang="en-US" sz="1400" dirty="0"/>
          </a:p>
        </p:txBody>
      </p:sp>
      <p:sp>
        <p:nvSpPr>
          <p:cNvPr id="9" name="Text 6"/>
          <p:cNvSpPr/>
          <p:nvPr/>
        </p:nvSpPr>
        <p:spPr>
          <a:xfrm>
            <a:off x="1014413" y="3511034"/>
            <a:ext cx="4758333" cy="448389"/>
          </a:xfrm>
          <a:prstGeom prst="rect">
            <a:avLst/>
          </a:prstGeom>
          <a:noFill/>
          <a:ln/>
        </p:spPr>
        <p:txBody>
          <a:bodyPr wrap="square" lIns="0" tIns="0" rIns="0" bIns="0" rtlCol="0" anchor="t"/>
          <a:lstStyle/>
          <a:p>
            <a:pPr marL="0" indent="0" algn="ctr">
              <a:lnSpc>
                <a:spcPts val="1750"/>
              </a:lnSpc>
              <a:buNone/>
            </a:pPr>
            <a:r>
              <a:rPr lang="en-US" sz="1250" dirty="0">
                <a:solidFill>
                  <a:srgbClr val="DAD8E9"/>
                </a:solidFill>
                <a:latin typeface="Mukta Light" pitchFamily="34" charset="0"/>
                <a:ea typeface="Mukta Light" pitchFamily="34" charset="-122"/>
                <a:cs typeface="Mukta Light" pitchFamily="34" charset="-120"/>
              </a:rPr>
              <a:t>Reduce resume creation from 6-8 hours to just 15-20 minutes with intelligent automation</a:t>
            </a:r>
            <a:endParaRPr lang="en-US" sz="1250" dirty="0"/>
          </a:p>
        </p:txBody>
      </p:sp>
      <p:sp>
        <p:nvSpPr>
          <p:cNvPr id="10" name="Shape 7"/>
          <p:cNvSpPr/>
          <p:nvPr/>
        </p:nvSpPr>
        <p:spPr>
          <a:xfrm>
            <a:off x="5996345" y="4600039"/>
            <a:ext cx="22860" cy="480536"/>
          </a:xfrm>
          <a:prstGeom prst="roundRect">
            <a:avLst>
              <a:gd name="adj" fmla="val 294292"/>
            </a:avLst>
          </a:prstGeom>
          <a:solidFill>
            <a:srgbClr val="6D4562"/>
          </a:solidFill>
          <a:ln/>
        </p:spPr>
      </p:sp>
      <p:sp>
        <p:nvSpPr>
          <p:cNvPr id="11" name="Shape 8"/>
          <p:cNvSpPr/>
          <p:nvPr/>
        </p:nvSpPr>
        <p:spPr>
          <a:xfrm>
            <a:off x="5827633" y="4419898"/>
            <a:ext cx="360402" cy="360402"/>
          </a:xfrm>
          <a:prstGeom prst="roundRect">
            <a:avLst>
              <a:gd name="adj" fmla="val 18667"/>
            </a:avLst>
          </a:prstGeom>
          <a:solidFill>
            <a:srgbClr val="542C49"/>
          </a:solidFill>
          <a:ln w="7620">
            <a:solidFill>
              <a:srgbClr val="6D4562"/>
            </a:solidFill>
            <a:prstDash val="solid"/>
          </a:ln>
        </p:spPr>
      </p:sp>
      <p:sp>
        <p:nvSpPr>
          <p:cNvPr id="12" name="Text 9"/>
          <p:cNvSpPr/>
          <p:nvPr/>
        </p:nvSpPr>
        <p:spPr>
          <a:xfrm>
            <a:off x="5901035" y="4466570"/>
            <a:ext cx="213479" cy="266938"/>
          </a:xfrm>
          <a:prstGeom prst="rect">
            <a:avLst/>
          </a:prstGeom>
          <a:noFill/>
          <a:ln/>
        </p:spPr>
        <p:txBody>
          <a:bodyPr wrap="none" lIns="0" tIns="0" rIns="0" bIns="0" rtlCol="0" anchor="t"/>
          <a:lstStyle/>
          <a:p>
            <a:pPr marL="0" indent="0" algn="ctr">
              <a:lnSpc>
                <a:spcPts val="1650"/>
              </a:lnSpc>
              <a:buNone/>
            </a:pPr>
            <a:r>
              <a:rPr lang="en-US" sz="1650" dirty="0">
                <a:solidFill>
                  <a:srgbClr val="DAD8E9"/>
                </a:solidFill>
                <a:latin typeface="Prompt Medium" pitchFamily="34" charset="0"/>
                <a:ea typeface="Prompt Medium" pitchFamily="34" charset="-122"/>
                <a:cs typeface="Prompt Medium" pitchFamily="34" charset="-120"/>
              </a:rPr>
              <a:t>2</a:t>
            </a:r>
            <a:endParaRPr lang="en-US" sz="1650" dirty="0"/>
          </a:p>
        </p:txBody>
      </p:sp>
      <p:sp>
        <p:nvSpPr>
          <p:cNvPr id="13" name="Text 10"/>
          <p:cNvSpPr/>
          <p:nvPr/>
        </p:nvSpPr>
        <p:spPr>
          <a:xfrm>
            <a:off x="5118021" y="5240774"/>
            <a:ext cx="1779746" cy="222409"/>
          </a:xfrm>
          <a:prstGeom prst="rect">
            <a:avLst/>
          </a:prstGeom>
          <a:noFill/>
          <a:ln/>
        </p:spPr>
        <p:txBody>
          <a:bodyPr wrap="none" lIns="0" tIns="0" rIns="0" bIns="0" rtlCol="0" anchor="t"/>
          <a:lstStyle/>
          <a:p>
            <a:pPr marL="0" indent="0" algn="ctr">
              <a:lnSpc>
                <a:spcPts val="1750"/>
              </a:lnSpc>
              <a:buNone/>
            </a:pPr>
            <a:r>
              <a:rPr lang="en-US" sz="1400" dirty="0">
                <a:solidFill>
                  <a:srgbClr val="DAD8E9"/>
                </a:solidFill>
                <a:latin typeface="Prompt Medium" pitchFamily="34" charset="0"/>
                <a:ea typeface="Prompt Medium" pitchFamily="34" charset="-122"/>
                <a:cs typeface="Prompt Medium" pitchFamily="34" charset="-120"/>
              </a:rPr>
              <a:t>Higher Success Rate</a:t>
            </a:r>
            <a:endParaRPr lang="en-US" sz="1400" dirty="0"/>
          </a:p>
        </p:txBody>
      </p:sp>
      <p:sp>
        <p:nvSpPr>
          <p:cNvPr id="14" name="Text 11"/>
          <p:cNvSpPr/>
          <p:nvPr/>
        </p:nvSpPr>
        <p:spPr>
          <a:xfrm>
            <a:off x="3628787" y="5535216"/>
            <a:ext cx="4758333" cy="448389"/>
          </a:xfrm>
          <a:prstGeom prst="rect">
            <a:avLst/>
          </a:prstGeom>
          <a:noFill/>
          <a:ln/>
        </p:spPr>
        <p:txBody>
          <a:bodyPr wrap="square" lIns="0" tIns="0" rIns="0" bIns="0" rtlCol="0" anchor="t"/>
          <a:lstStyle/>
          <a:p>
            <a:pPr marL="0" indent="0" algn="ctr">
              <a:lnSpc>
                <a:spcPts val="1750"/>
              </a:lnSpc>
              <a:buNone/>
            </a:pPr>
            <a:r>
              <a:rPr lang="en-US" sz="1250" dirty="0">
                <a:solidFill>
                  <a:srgbClr val="DAD8E9"/>
                </a:solidFill>
                <a:latin typeface="Mukta Light" pitchFamily="34" charset="0"/>
                <a:ea typeface="Mukta Light" pitchFamily="34" charset="-122"/>
                <a:cs typeface="Mukta Light" pitchFamily="34" charset="-120"/>
              </a:rPr>
              <a:t>ATS-optimized resumes increase interview callbacks by up to 40% compared to traditional formats</a:t>
            </a:r>
            <a:endParaRPr lang="en-US" sz="1250" dirty="0"/>
          </a:p>
        </p:txBody>
      </p:sp>
      <p:sp>
        <p:nvSpPr>
          <p:cNvPr id="15" name="Shape 12"/>
          <p:cNvSpPr/>
          <p:nvPr/>
        </p:nvSpPr>
        <p:spPr>
          <a:xfrm>
            <a:off x="8610719" y="4119622"/>
            <a:ext cx="22860" cy="480536"/>
          </a:xfrm>
          <a:prstGeom prst="roundRect">
            <a:avLst>
              <a:gd name="adj" fmla="val 294292"/>
            </a:avLst>
          </a:prstGeom>
          <a:solidFill>
            <a:srgbClr val="6D4562"/>
          </a:solidFill>
          <a:ln/>
        </p:spPr>
      </p:sp>
      <p:sp>
        <p:nvSpPr>
          <p:cNvPr id="16" name="Shape 13"/>
          <p:cNvSpPr/>
          <p:nvPr/>
        </p:nvSpPr>
        <p:spPr>
          <a:xfrm>
            <a:off x="8442008" y="4419898"/>
            <a:ext cx="360402" cy="360402"/>
          </a:xfrm>
          <a:prstGeom prst="roundRect">
            <a:avLst>
              <a:gd name="adj" fmla="val 18667"/>
            </a:avLst>
          </a:prstGeom>
          <a:solidFill>
            <a:srgbClr val="542C49"/>
          </a:solidFill>
          <a:ln w="7620">
            <a:solidFill>
              <a:srgbClr val="6D4562"/>
            </a:solidFill>
            <a:prstDash val="solid"/>
          </a:ln>
        </p:spPr>
      </p:sp>
      <p:sp>
        <p:nvSpPr>
          <p:cNvPr id="17" name="Text 14"/>
          <p:cNvSpPr/>
          <p:nvPr/>
        </p:nvSpPr>
        <p:spPr>
          <a:xfrm>
            <a:off x="8515410" y="4466570"/>
            <a:ext cx="213479" cy="266938"/>
          </a:xfrm>
          <a:prstGeom prst="rect">
            <a:avLst/>
          </a:prstGeom>
          <a:noFill/>
          <a:ln/>
        </p:spPr>
        <p:txBody>
          <a:bodyPr wrap="none" lIns="0" tIns="0" rIns="0" bIns="0" rtlCol="0" anchor="t"/>
          <a:lstStyle/>
          <a:p>
            <a:pPr marL="0" indent="0" algn="ctr">
              <a:lnSpc>
                <a:spcPts val="1650"/>
              </a:lnSpc>
              <a:buNone/>
            </a:pPr>
            <a:r>
              <a:rPr lang="en-US" sz="1650" dirty="0">
                <a:solidFill>
                  <a:srgbClr val="DAD8E9"/>
                </a:solidFill>
                <a:latin typeface="Prompt Medium" pitchFamily="34" charset="0"/>
                <a:ea typeface="Prompt Medium" pitchFamily="34" charset="-122"/>
                <a:cs typeface="Prompt Medium" pitchFamily="34" charset="-120"/>
              </a:rPr>
              <a:t>3</a:t>
            </a:r>
            <a:endParaRPr lang="en-US" sz="1650" dirty="0"/>
          </a:p>
        </p:txBody>
      </p:sp>
      <p:sp>
        <p:nvSpPr>
          <p:cNvPr id="18" name="Text 15"/>
          <p:cNvSpPr/>
          <p:nvPr/>
        </p:nvSpPr>
        <p:spPr>
          <a:xfrm>
            <a:off x="7724180" y="3216592"/>
            <a:ext cx="1796296" cy="222409"/>
          </a:xfrm>
          <a:prstGeom prst="rect">
            <a:avLst/>
          </a:prstGeom>
          <a:noFill/>
          <a:ln/>
        </p:spPr>
        <p:txBody>
          <a:bodyPr wrap="none" lIns="0" tIns="0" rIns="0" bIns="0" rtlCol="0" anchor="t"/>
          <a:lstStyle/>
          <a:p>
            <a:pPr marL="0" indent="0" algn="ctr">
              <a:lnSpc>
                <a:spcPts val="1750"/>
              </a:lnSpc>
              <a:buNone/>
            </a:pPr>
            <a:r>
              <a:rPr lang="en-US" sz="1400" dirty="0">
                <a:solidFill>
                  <a:srgbClr val="DAD8E9"/>
                </a:solidFill>
                <a:latin typeface="Prompt Medium" pitchFamily="34" charset="0"/>
                <a:ea typeface="Prompt Medium" pitchFamily="34" charset="-122"/>
                <a:cs typeface="Prompt Medium" pitchFamily="34" charset="-120"/>
              </a:rPr>
              <a:t>Career Development</a:t>
            </a:r>
            <a:endParaRPr lang="en-US" sz="1400" dirty="0"/>
          </a:p>
        </p:txBody>
      </p:sp>
      <p:sp>
        <p:nvSpPr>
          <p:cNvPr id="19" name="Text 16"/>
          <p:cNvSpPr/>
          <p:nvPr/>
        </p:nvSpPr>
        <p:spPr>
          <a:xfrm>
            <a:off x="6243161" y="3511034"/>
            <a:ext cx="4758333" cy="448389"/>
          </a:xfrm>
          <a:prstGeom prst="rect">
            <a:avLst/>
          </a:prstGeom>
          <a:noFill/>
          <a:ln/>
        </p:spPr>
        <p:txBody>
          <a:bodyPr wrap="square" lIns="0" tIns="0" rIns="0" bIns="0" rtlCol="0" anchor="t"/>
          <a:lstStyle/>
          <a:p>
            <a:pPr marL="0" indent="0" algn="ctr">
              <a:lnSpc>
                <a:spcPts val="1750"/>
              </a:lnSpc>
              <a:buNone/>
            </a:pPr>
            <a:r>
              <a:rPr lang="en-US" sz="1250" dirty="0">
                <a:solidFill>
                  <a:srgbClr val="DAD8E9"/>
                </a:solidFill>
                <a:latin typeface="Mukta Light" pitchFamily="34" charset="0"/>
                <a:ea typeface="Mukta Light" pitchFamily="34" charset="-122"/>
                <a:cs typeface="Mukta Light" pitchFamily="34" charset="-120"/>
              </a:rPr>
              <a:t>Skill gap analysis guides professional growth with targeted learning recommendations</a:t>
            </a:r>
            <a:endParaRPr lang="en-US" sz="1250" dirty="0"/>
          </a:p>
        </p:txBody>
      </p:sp>
      <p:sp>
        <p:nvSpPr>
          <p:cNvPr id="20" name="Shape 17"/>
          <p:cNvSpPr/>
          <p:nvPr/>
        </p:nvSpPr>
        <p:spPr>
          <a:xfrm>
            <a:off x="11225093" y="4600039"/>
            <a:ext cx="22860" cy="480536"/>
          </a:xfrm>
          <a:prstGeom prst="roundRect">
            <a:avLst>
              <a:gd name="adj" fmla="val 294292"/>
            </a:avLst>
          </a:prstGeom>
          <a:solidFill>
            <a:srgbClr val="6D4562"/>
          </a:solidFill>
          <a:ln/>
        </p:spPr>
      </p:sp>
      <p:sp>
        <p:nvSpPr>
          <p:cNvPr id="21" name="Shape 18"/>
          <p:cNvSpPr/>
          <p:nvPr/>
        </p:nvSpPr>
        <p:spPr>
          <a:xfrm>
            <a:off x="11056382" y="4419898"/>
            <a:ext cx="360402" cy="360402"/>
          </a:xfrm>
          <a:prstGeom prst="roundRect">
            <a:avLst>
              <a:gd name="adj" fmla="val 18667"/>
            </a:avLst>
          </a:prstGeom>
          <a:solidFill>
            <a:srgbClr val="542C49"/>
          </a:solidFill>
          <a:ln w="7620">
            <a:solidFill>
              <a:srgbClr val="6D4562"/>
            </a:solidFill>
            <a:prstDash val="solid"/>
          </a:ln>
        </p:spPr>
      </p:sp>
      <p:sp>
        <p:nvSpPr>
          <p:cNvPr id="22" name="Text 19"/>
          <p:cNvSpPr/>
          <p:nvPr/>
        </p:nvSpPr>
        <p:spPr>
          <a:xfrm>
            <a:off x="11129784" y="4466570"/>
            <a:ext cx="213479" cy="266938"/>
          </a:xfrm>
          <a:prstGeom prst="rect">
            <a:avLst/>
          </a:prstGeom>
          <a:noFill/>
          <a:ln/>
        </p:spPr>
        <p:txBody>
          <a:bodyPr wrap="none" lIns="0" tIns="0" rIns="0" bIns="0" rtlCol="0" anchor="t"/>
          <a:lstStyle/>
          <a:p>
            <a:pPr marL="0" indent="0" algn="ctr">
              <a:lnSpc>
                <a:spcPts val="1650"/>
              </a:lnSpc>
              <a:buNone/>
            </a:pPr>
            <a:r>
              <a:rPr lang="en-US" sz="1650" dirty="0">
                <a:solidFill>
                  <a:srgbClr val="DAD8E9"/>
                </a:solidFill>
                <a:latin typeface="Prompt Medium" pitchFamily="34" charset="0"/>
                <a:ea typeface="Prompt Medium" pitchFamily="34" charset="-122"/>
                <a:cs typeface="Prompt Medium" pitchFamily="34" charset="-120"/>
              </a:rPr>
              <a:t>4</a:t>
            </a:r>
            <a:endParaRPr lang="en-US" sz="1650" dirty="0"/>
          </a:p>
        </p:txBody>
      </p:sp>
      <p:sp>
        <p:nvSpPr>
          <p:cNvPr id="23" name="Text 20"/>
          <p:cNvSpPr/>
          <p:nvPr/>
        </p:nvSpPr>
        <p:spPr>
          <a:xfrm>
            <a:off x="10346769" y="5240774"/>
            <a:ext cx="1779746" cy="222409"/>
          </a:xfrm>
          <a:prstGeom prst="rect">
            <a:avLst/>
          </a:prstGeom>
          <a:noFill/>
          <a:ln/>
        </p:spPr>
        <p:txBody>
          <a:bodyPr wrap="none" lIns="0" tIns="0" rIns="0" bIns="0" rtlCol="0" anchor="t"/>
          <a:lstStyle/>
          <a:p>
            <a:pPr marL="0" indent="0" algn="ctr">
              <a:lnSpc>
                <a:spcPts val="1750"/>
              </a:lnSpc>
              <a:buNone/>
            </a:pPr>
            <a:r>
              <a:rPr lang="en-US" sz="1400" dirty="0">
                <a:solidFill>
                  <a:srgbClr val="DAD8E9"/>
                </a:solidFill>
                <a:latin typeface="Prompt Medium" pitchFamily="34" charset="0"/>
                <a:ea typeface="Prompt Medium" pitchFamily="34" charset="-122"/>
                <a:cs typeface="Prompt Medium" pitchFamily="34" charset="-120"/>
              </a:rPr>
              <a:t>Professional Quality</a:t>
            </a:r>
            <a:endParaRPr lang="en-US" sz="1400" dirty="0"/>
          </a:p>
        </p:txBody>
      </p:sp>
      <p:sp>
        <p:nvSpPr>
          <p:cNvPr id="24" name="Text 21"/>
          <p:cNvSpPr/>
          <p:nvPr/>
        </p:nvSpPr>
        <p:spPr>
          <a:xfrm>
            <a:off x="8857536" y="5535216"/>
            <a:ext cx="4758333" cy="448389"/>
          </a:xfrm>
          <a:prstGeom prst="rect">
            <a:avLst/>
          </a:prstGeom>
          <a:noFill/>
          <a:ln/>
        </p:spPr>
        <p:txBody>
          <a:bodyPr wrap="square" lIns="0" tIns="0" rIns="0" bIns="0" rtlCol="0" anchor="t"/>
          <a:lstStyle/>
          <a:p>
            <a:pPr marL="0" indent="0" algn="ctr">
              <a:lnSpc>
                <a:spcPts val="1750"/>
              </a:lnSpc>
              <a:buNone/>
            </a:pPr>
            <a:r>
              <a:rPr lang="en-US" sz="1250" dirty="0">
                <a:solidFill>
                  <a:srgbClr val="DAD8E9"/>
                </a:solidFill>
                <a:latin typeface="Mukta Light" pitchFamily="34" charset="0"/>
                <a:ea typeface="Mukta Light" pitchFamily="34" charset="-122"/>
                <a:cs typeface="Mukta Light" pitchFamily="34" charset="-120"/>
              </a:rPr>
              <a:t>Enterprise-grade resumes that reflect industry best practices and employer expectations</a:t>
            </a:r>
            <a:endParaRPr lang="en-US" sz="1250" dirty="0"/>
          </a:p>
        </p:txBody>
      </p:sp>
      <p:sp>
        <p:nvSpPr>
          <p:cNvPr id="25" name="Text 22"/>
          <p:cNvSpPr/>
          <p:nvPr/>
        </p:nvSpPr>
        <p:spPr>
          <a:xfrm>
            <a:off x="854273" y="6198751"/>
            <a:ext cx="4207193" cy="528518"/>
          </a:xfrm>
          <a:prstGeom prst="rect">
            <a:avLst/>
          </a:prstGeom>
          <a:noFill/>
          <a:ln/>
        </p:spPr>
        <p:txBody>
          <a:bodyPr wrap="none" lIns="0" tIns="0" rIns="0" bIns="0" rtlCol="0" anchor="t"/>
          <a:lstStyle/>
          <a:p>
            <a:pPr marL="0" indent="0" algn="ctr">
              <a:lnSpc>
                <a:spcPts val="4150"/>
              </a:lnSpc>
              <a:buNone/>
            </a:pPr>
            <a:r>
              <a:rPr lang="en-US" sz="4150" dirty="0">
                <a:solidFill>
                  <a:srgbClr val="DAD8E9"/>
                </a:solidFill>
                <a:latin typeface="Prompt Medium" pitchFamily="34" charset="0"/>
                <a:ea typeface="Prompt Medium" pitchFamily="34" charset="-122"/>
                <a:cs typeface="Prompt Medium" pitchFamily="34" charset="-120"/>
              </a:rPr>
              <a:t>75%</a:t>
            </a:r>
            <a:endParaRPr lang="en-US" sz="4150" dirty="0"/>
          </a:p>
        </p:txBody>
      </p:sp>
      <p:sp>
        <p:nvSpPr>
          <p:cNvPr id="26" name="Text 23"/>
          <p:cNvSpPr/>
          <p:nvPr/>
        </p:nvSpPr>
        <p:spPr>
          <a:xfrm>
            <a:off x="2067997" y="6897291"/>
            <a:ext cx="1779746" cy="222409"/>
          </a:xfrm>
          <a:prstGeom prst="rect">
            <a:avLst/>
          </a:prstGeom>
          <a:noFill/>
          <a:ln/>
        </p:spPr>
        <p:txBody>
          <a:bodyPr wrap="none" lIns="0" tIns="0" rIns="0" bIns="0" rtlCol="0" anchor="t"/>
          <a:lstStyle/>
          <a:p>
            <a:pPr marL="0" indent="0" algn="ctr">
              <a:lnSpc>
                <a:spcPts val="1750"/>
              </a:lnSpc>
              <a:buNone/>
            </a:pPr>
            <a:r>
              <a:rPr lang="en-US" sz="1400" dirty="0">
                <a:solidFill>
                  <a:srgbClr val="DAD8E9"/>
                </a:solidFill>
                <a:latin typeface="Prompt Medium" pitchFamily="34" charset="0"/>
                <a:ea typeface="Prompt Medium" pitchFamily="34" charset="-122"/>
                <a:cs typeface="Prompt Medium" pitchFamily="34" charset="-120"/>
              </a:rPr>
              <a:t>ATS Pass Rate</a:t>
            </a:r>
            <a:endParaRPr lang="en-US" sz="1400" dirty="0"/>
          </a:p>
        </p:txBody>
      </p:sp>
      <p:sp>
        <p:nvSpPr>
          <p:cNvPr id="27" name="Text 24"/>
          <p:cNvSpPr/>
          <p:nvPr/>
        </p:nvSpPr>
        <p:spPr>
          <a:xfrm>
            <a:off x="854273" y="7191732"/>
            <a:ext cx="4207193" cy="448389"/>
          </a:xfrm>
          <a:prstGeom prst="rect">
            <a:avLst/>
          </a:prstGeom>
          <a:noFill/>
          <a:ln/>
        </p:spPr>
        <p:txBody>
          <a:bodyPr wrap="square" lIns="0" tIns="0" rIns="0" bIns="0" rtlCol="0" anchor="t"/>
          <a:lstStyle/>
          <a:p>
            <a:pPr marL="0" indent="0" algn="ctr">
              <a:lnSpc>
                <a:spcPts val="1750"/>
              </a:lnSpc>
              <a:buNone/>
            </a:pPr>
            <a:r>
              <a:rPr lang="en-US" sz="1250" dirty="0">
                <a:solidFill>
                  <a:srgbClr val="DAD8E9"/>
                </a:solidFill>
                <a:latin typeface="Mukta Light" pitchFamily="34" charset="0"/>
                <a:ea typeface="Mukta Light" pitchFamily="34" charset="-122"/>
                <a:cs typeface="Mukta Light" pitchFamily="34" charset="-120"/>
              </a:rPr>
              <a:t>Resumes optimized to successfully navigate automated screening systems</a:t>
            </a:r>
            <a:endParaRPr lang="en-US" sz="1250" dirty="0"/>
          </a:p>
        </p:txBody>
      </p:sp>
      <p:sp>
        <p:nvSpPr>
          <p:cNvPr id="28" name="Text 25"/>
          <p:cNvSpPr/>
          <p:nvPr/>
        </p:nvSpPr>
        <p:spPr>
          <a:xfrm>
            <a:off x="5211604" y="6198751"/>
            <a:ext cx="4207193" cy="528518"/>
          </a:xfrm>
          <a:prstGeom prst="rect">
            <a:avLst/>
          </a:prstGeom>
          <a:noFill/>
          <a:ln/>
        </p:spPr>
        <p:txBody>
          <a:bodyPr wrap="none" lIns="0" tIns="0" rIns="0" bIns="0" rtlCol="0" anchor="t"/>
          <a:lstStyle/>
          <a:p>
            <a:pPr marL="0" indent="0" algn="ctr">
              <a:lnSpc>
                <a:spcPts val="4150"/>
              </a:lnSpc>
              <a:buNone/>
            </a:pPr>
            <a:r>
              <a:rPr lang="en-US" sz="4150" dirty="0">
                <a:solidFill>
                  <a:srgbClr val="DAD8E9"/>
                </a:solidFill>
                <a:latin typeface="Prompt Medium" pitchFamily="34" charset="0"/>
                <a:ea typeface="Prompt Medium" pitchFamily="34" charset="-122"/>
                <a:cs typeface="Prompt Medium" pitchFamily="34" charset="-120"/>
              </a:rPr>
              <a:t>40%</a:t>
            </a:r>
            <a:endParaRPr lang="en-US" sz="4150" dirty="0"/>
          </a:p>
        </p:txBody>
      </p:sp>
      <p:sp>
        <p:nvSpPr>
          <p:cNvPr id="29" name="Text 26"/>
          <p:cNvSpPr/>
          <p:nvPr/>
        </p:nvSpPr>
        <p:spPr>
          <a:xfrm>
            <a:off x="6425327" y="6897291"/>
            <a:ext cx="1779746" cy="222409"/>
          </a:xfrm>
          <a:prstGeom prst="rect">
            <a:avLst/>
          </a:prstGeom>
          <a:noFill/>
          <a:ln/>
        </p:spPr>
        <p:txBody>
          <a:bodyPr wrap="none" lIns="0" tIns="0" rIns="0" bIns="0" rtlCol="0" anchor="t"/>
          <a:lstStyle/>
          <a:p>
            <a:pPr marL="0" indent="0" algn="ctr">
              <a:lnSpc>
                <a:spcPts val="1750"/>
              </a:lnSpc>
              <a:buNone/>
            </a:pPr>
            <a:r>
              <a:rPr lang="en-US" sz="1400" dirty="0">
                <a:solidFill>
                  <a:srgbClr val="DAD8E9"/>
                </a:solidFill>
                <a:latin typeface="Prompt Medium" pitchFamily="34" charset="0"/>
                <a:ea typeface="Prompt Medium" pitchFamily="34" charset="-122"/>
                <a:cs typeface="Prompt Medium" pitchFamily="34" charset="-120"/>
              </a:rPr>
              <a:t>Interview Increase</a:t>
            </a:r>
            <a:endParaRPr lang="en-US" sz="1400" dirty="0"/>
          </a:p>
        </p:txBody>
      </p:sp>
      <p:sp>
        <p:nvSpPr>
          <p:cNvPr id="30" name="Text 27"/>
          <p:cNvSpPr/>
          <p:nvPr/>
        </p:nvSpPr>
        <p:spPr>
          <a:xfrm>
            <a:off x="5211604" y="7191732"/>
            <a:ext cx="4207193" cy="448389"/>
          </a:xfrm>
          <a:prstGeom prst="rect">
            <a:avLst/>
          </a:prstGeom>
          <a:noFill/>
          <a:ln/>
        </p:spPr>
        <p:txBody>
          <a:bodyPr wrap="square" lIns="0" tIns="0" rIns="0" bIns="0" rtlCol="0" anchor="t"/>
          <a:lstStyle/>
          <a:p>
            <a:pPr marL="0" indent="0" algn="ctr">
              <a:lnSpc>
                <a:spcPts val="1750"/>
              </a:lnSpc>
              <a:buNone/>
            </a:pPr>
            <a:r>
              <a:rPr lang="en-US" sz="1250" dirty="0">
                <a:solidFill>
                  <a:srgbClr val="DAD8E9"/>
                </a:solidFill>
                <a:latin typeface="Mukta Light" pitchFamily="34" charset="0"/>
                <a:ea typeface="Mukta Light" pitchFamily="34" charset="-122"/>
                <a:cs typeface="Mukta Light" pitchFamily="34" charset="-120"/>
              </a:rPr>
              <a:t>Higher callback rates with professionally crafted, role-specific content</a:t>
            </a:r>
            <a:endParaRPr lang="en-US" sz="1250" dirty="0"/>
          </a:p>
        </p:txBody>
      </p:sp>
      <p:sp>
        <p:nvSpPr>
          <p:cNvPr id="31" name="Text 28"/>
          <p:cNvSpPr/>
          <p:nvPr/>
        </p:nvSpPr>
        <p:spPr>
          <a:xfrm>
            <a:off x="9568934" y="6198751"/>
            <a:ext cx="4207193" cy="528518"/>
          </a:xfrm>
          <a:prstGeom prst="rect">
            <a:avLst/>
          </a:prstGeom>
          <a:noFill/>
          <a:ln/>
        </p:spPr>
        <p:txBody>
          <a:bodyPr wrap="none" lIns="0" tIns="0" rIns="0" bIns="0" rtlCol="0" anchor="t"/>
          <a:lstStyle/>
          <a:p>
            <a:pPr marL="0" indent="0" algn="ctr">
              <a:lnSpc>
                <a:spcPts val="4150"/>
              </a:lnSpc>
              <a:buNone/>
            </a:pPr>
            <a:r>
              <a:rPr lang="en-US" sz="4150" dirty="0">
                <a:solidFill>
                  <a:srgbClr val="DAD8E9"/>
                </a:solidFill>
                <a:latin typeface="Prompt Medium" pitchFamily="34" charset="0"/>
                <a:ea typeface="Prompt Medium" pitchFamily="34" charset="-122"/>
                <a:cs typeface="Prompt Medium" pitchFamily="34" charset="-120"/>
              </a:rPr>
              <a:t>15min</a:t>
            </a:r>
            <a:endParaRPr lang="en-US" sz="4150" dirty="0"/>
          </a:p>
        </p:txBody>
      </p:sp>
      <p:sp>
        <p:nvSpPr>
          <p:cNvPr id="32" name="Text 29"/>
          <p:cNvSpPr/>
          <p:nvPr/>
        </p:nvSpPr>
        <p:spPr>
          <a:xfrm>
            <a:off x="10782657" y="6897291"/>
            <a:ext cx="1779746" cy="222409"/>
          </a:xfrm>
          <a:prstGeom prst="rect">
            <a:avLst/>
          </a:prstGeom>
          <a:noFill/>
          <a:ln/>
        </p:spPr>
        <p:txBody>
          <a:bodyPr wrap="none" lIns="0" tIns="0" rIns="0" bIns="0" rtlCol="0" anchor="t"/>
          <a:lstStyle/>
          <a:p>
            <a:pPr marL="0" indent="0" algn="ctr">
              <a:lnSpc>
                <a:spcPts val="1750"/>
              </a:lnSpc>
              <a:buNone/>
            </a:pPr>
            <a:r>
              <a:rPr lang="en-US" sz="1400" dirty="0">
                <a:solidFill>
                  <a:srgbClr val="DAD8E9"/>
                </a:solidFill>
                <a:latin typeface="Prompt Medium" pitchFamily="34" charset="0"/>
                <a:ea typeface="Prompt Medium" pitchFamily="34" charset="-122"/>
                <a:cs typeface="Prompt Medium" pitchFamily="34" charset="-120"/>
              </a:rPr>
              <a:t>Creation Time</a:t>
            </a:r>
            <a:endParaRPr lang="en-US" sz="1400" dirty="0"/>
          </a:p>
        </p:txBody>
      </p:sp>
      <p:sp>
        <p:nvSpPr>
          <p:cNvPr id="33" name="Text 30"/>
          <p:cNvSpPr/>
          <p:nvPr/>
        </p:nvSpPr>
        <p:spPr>
          <a:xfrm>
            <a:off x="9568934" y="7191732"/>
            <a:ext cx="4207193" cy="224195"/>
          </a:xfrm>
          <a:prstGeom prst="rect">
            <a:avLst/>
          </a:prstGeom>
          <a:noFill/>
          <a:ln/>
        </p:spPr>
        <p:txBody>
          <a:bodyPr wrap="none" lIns="0" tIns="0" rIns="0" bIns="0" rtlCol="0" anchor="t"/>
          <a:lstStyle/>
          <a:p>
            <a:pPr marL="0" indent="0" algn="ctr">
              <a:lnSpc>
                <a:spcPts val="1750"/>
              </a:lnSpc>
              <a:buNone/>
            </a:pPr>
            <a:r>
              <a:rPr lang="en-US" sz="1250" dirty="0">
                <a:solidFill>
                  <a:srgbClr val="DAD8E9"/>
                </a:solidFill>
                <a:latin typeface="Mukta Light" pitchFamily="34" charset="0"/>
                <a:ea typeface="Mukta Light" pitchFamily="34" charset="-122"/>
                <a:cs typeface="Mukta Light" pitchFamily="34" charset="-120"/>
              </a:rPr>
              <a:t>From hours to minutes with AI-powered intelligent generation</a:t>
            </a:r>
            <a:endParaRPr lang="en-US" sz="1250" dirty="0"/>
          </a:p>
        </p:txBody>
      </p:sp>
      <p:sp>
        <p:nvSpPr>
          <p:cNvPr id="34" name="Rectangle 33">
            <a:extLst>
              <a:ext uri="{FF2B5EF4-FFF2-40B4-BE49-F238E27FC236}">
                <a16:creationId xmlns:a16="http://schemas.microsoft.com/office/drawing/2014/main" id="{9DB1F9A5-3FD9-252C-FBAC-4F8B47217B85}"/>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81063" y="1159193"/>
            <a:ext cx="2099667" cy="414099"/>
          </a:xfrm>
          <a:prstGeom prst="roundRect">
            <a:avLst>
              <a:gd name="adj" fmla="val 17875"/>
            </a:avLst>
          </a:prstGeom>
          <a:solidFill>
            <a:srgbClr val="321A2C"/>
          </a:solidFill>
          <a:ln/>
        </p:spPr>
      </p:sp>
      <p:sp>
        <p:nvSpPr>
          <p:cNvPr id="3" name="Text 1"/>
          <p:cNvSpPr/>
          <p:nvPr/>
        </p:nvSpPr>
        <p:spPr>
          <a:xfrm>
            <a:off x="1013222" y="1225272"/>
            <a:ext cx="1835348" cy="281940"/>
          </a:xfrm>
          <a:prstGeom prst="rect">
            <a:avLst/>
          </a:prstGeom>
          <a:noFill/>
          <a:ln/>
        </p:spPr>
        <p:txBody>
          <a:bodyPr wrap="none" lIns="0" tIns="0" rIns="0" bIns="0" rtlCol="0" anchor="t"/>
          <a:lstStyle/>
          <a:p>
            <a:pPr marL="0" indent="0" algn="l">
              <a:lnSpc>
                <a:spcPts val="2200"/>
              </a:lnSpc>
              <a:buNone/>
            </a:pPr>
            <a:r>
              <a:rPr lang="en-US" sz="1350" dirty="0">
                <a:solidFill>
                  <a:srgbClr val="DAD8E9"/>
                </a:solidFill>
                <a:latin typeface="Mukta Light" pitchFamily="34" charset="0"/>
                <a:ea typeface="Mukta Light" pitchFamily="34" charset="-122"/>
                <a:cs typeface="Mukta Light" pitchFamily="34" charset="-120"/>
              </a:rPr>
              <a:t>APPLICATION PROTOTYPE</a:t>
            </a:r>
            <a:endParaRPr lang="en-US" sz="1350" dirty="0"/>
          </a:p>
        </p:txBody>
      </p:sp>
      <p:sp>
        <p:nvSpPr>
          <p:cNvPr id="4" name="Text 2"/>
          <p:cNvSpPr/>
          <p:nvPr/>
        </p:nvSpPr>
        <p:spPr>
          <a:xfrm>
            <a:off x="881063" y="1661398"/>
            <a:ext cx="5914787" cy="611981"/>
          </a:xfrm>
          <a:prstGeom prst="rect">
            <a:avLst/>
          </a:prstGeom>
          <a:noFill/>
          <a:ln/>
        </p:spPr>
        <p:txBody>
          <a:bodyPr wrap="non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Experience the Interface</a:t>
            </a:r>
            <a:endParaRPr lang="en-US" sz="3850" dirty="0"/>
          </a:p>
        </p:txBody>
      </p:sp>
      <p:sp>
        <p:nvSpPr>
          <p:cNvPr id="5" name="Text 3"/>
          <p:cNvSpPr/>
          <p:nvPr/>
        </p:nvSpPr>
        <p:spPr>
          <a:xfrm>
            <a:off x="881063" y="2603778"/>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Our Figma prototype showcases the intuitive user experience, featuring a dark theme professional design with step-by-step guidance, real-time preview capabilities, and seamless workflow from data input to final document export.</a:t>
            </a:r>
            <a:endParaRPr lang="en-US" sz="1700" dirty="0"/>
          </a:p>
        </p:txBody>
      </p:sp>
      <p:sp>
        <p:nvSpPr>
          <p:cNvPr id="6" name="Text 4"/>
          <p:cNvSpPr/>
          <p:nvPr/>
        </p:nvSpPr>
        <p:spPr>
          <a:xfrm>
            <a:off x="881063" y="3556397"/>
            <a:ext cx="220266" cy="275273"/>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Prompt Light" pitchFamily="34" charset="0"/>
                <a:ea typeface="Prompt Light" pitchFamily="34" charset="-122"/>
                <a:cs typeface="Prompt Light" pitchFamily="34" charset="-120"/>
              </a:rPr>
              <a:t>01</a:t>
            </a:r>
            <a:endParaRPr lang="en-US" sz="1700" dirty="0"/>
          </a:p>
        </p:txBody>
      </p:sp>
      <p:sp>
        <p:nvSpPr>
          <p:cNvPr id="7" name="Shape 5"/>
          <p:cNvSpPr/>
          <p:nvPr/>
        </p:nvSpPr>
        <p:spPr>
          <a:xfrm>
            <a:off x="881063" y="3900249"/>
            <a:ext cx="4142542" cy="30480"/>
          </a:xfrm>
          <a:prstGeom prst="rect">
            <a:avLst/>
          </a:prstGeom>
          <a:solidFill>
            <a:srgbClr val="A95B95"/>
          </a:solidFill>
          <a:ln/>
        </p:spPr>
      </p:sp>
      <p:sp>
        <p:nvSpPr>
          <p:cNvPr id="8" name="Text 6"/>
          <p:cNvSpPr/>
          <p:nvPr/>
        </p:nvSpPr>
        <p:spPr>
          <a:xfrm>
            <a:off x="881063" y="4071342"/>
            <a:ext cx="2591633"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Input Personal Details</a:t>
            </a:r>
            <a:endParaRPr lang="en-US" sz="1900" dirty="0"/>
          </a:p>
        </p:txBody>
      </p:sp>
      <p:sp>
        <p:nvSpPr>
          <p:cNvPr id="9" name="Text 7"/>
          <p:cNvSpPr/>
          <p:nvPr/>
        </p:nvSpPr>
        <p:spPr>
          <a:xfrm>
            <a:off x="881063" y="4509492"/>
            <a:ext cx="4142542"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Guided form captures all essential information with smart validation</a:t>
            </a:r>
            <a:endParaRPr lang="en-US" sz="1700" dirty="0"/>
          </a:p>
        </p:txBody>
      </p:sp>
      <p:sp>
        <p:nvSpPr>
          <p:cNvPr id="10" name="Text 8"/>
          <p:cNvSpPr/>
          <p:nvPr/>
        </p:nvSpPr>
        <p:spPr>
          <a:xfrm>
            <a:off x="5243870" y="3556397"/>
            <a:ext cx="220266" cy="275273"/>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Prompt Light" pitchFamily="34" charset="0"/>
                <a:ea typeface="Prompt Light" pitchFamily="34" charset="-122"/>
                <a:cs typeface="Prompt Light" pitchFamily="34" charset="-120"/>
              </a:rPr>
              <a:t>02</a:t>
            </a:r>
            <a:endParaRPr lang="en-US" sz="1700" dirty="0"/>
          </a:p>
        </p:txBody>
      </p:sp>
      <p:sp>
        <p:nvSpPr>
          <p:cNvPr id="11" name="Shape 9"/>
          <p:cNvSpPr/>
          <p:nvPr/>
        </p:nvSpPr>
        <p:spPr>
          <a:xfrm>
            <a:off x="5243870" y="3900249"/>
            <a:ext cx="4142542" cy="30480"/>
          </a:xfrm>
          <a:prstGeom prst="rect">
            <a:avLst/>
          </a:prstGeom>
          <a:solidFill>
            <a:srgbClr val="A95B95"/>
          </a:solidFill>
          <a:ln/>
        </p:spPr>
      </p:sp>
      <p:sp>
        <p:nvSpPr>
          <p:cNvPr id="12" name="Text 10"/>
          <p:cNvSpPr/>
          <p:nvPr/>
        </p:nvSpPr>
        <p:spPr>
          <a:xfrm>
            <a:off x="5243870" y="4071342"/>
            <a:ext cx="2553653"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Select Template Style</a:t>
            </a:r>
            <a:endParaRPr lang="en-US" sz="1900" dirty="0"/>
          </a:p>
        </p:txBody>
      </p:sp>
      <p:sp>
        <p:nvSpPr>
          <p:cNvPr id="13" name="Text 11"/>
          <p:cNvSpPr/>
          <p:nvPr/>
        </p:nvSpPr>
        <p:spPr>
          <a:xfrm>
            <a:off x="5243870" y="4509492"/>
            <a:ext cx="4142542"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Choose from professional options or upload custom design</a:t>
            </a:r>
            <a:endParaRPr lang="en-US" sz="1700" dirty="0"/>
          </a:p>
        </p:txBody>
      </p:sp>
      <p:sp>
        <p:nvSpPr>
          <p:cNvPr id="14" name="Text 12"/>
          <p:cNvSpPr/>
          <p:nvPr/>
        </p:nvSpPr>
        <p:spPr>
          <a:xfrm>
            <a:off x="9606677" y="3556397"/>
            <a:ext cx="220266" cy="275273"/>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Prompt Light" pitchFamily="34" charset="0"/>
                <a:ea typeface="Prompt Light" pitchFamily="34" charset="-122"/>
                <a:cs typeface="Prompt Light" pitchFamily="34" charset="-120"/>
              </a:rPr>
              <a:t>03</a:t>
            </a:r>
            <a:endParaRPr lang="en-US" sz="1700" dirty="0"/>
          </a:p>
        </p:txBody>
      </p:sp>
      <p:sp>
        <p:nvSpPr>
          <p:cNvPr id="15" name="Shape 13"/>
          <p:cNvSpPr/>
          <p:nvPr/>
        </p:nvSpPr>
        <p:spPr>
          <a:xfrm>
            <a:off x="9606677" y="3900249"/>
            <a:ext cx="4142542" cy="30480"/>
          </a:xfrm>
          <a:prstGeom prst="rect">
            <a:avLst/>
          </a:prstGeom>
          <a:solidFill>
            <a:srgbClr val="A95B95"/>
          </a:solidFill>
          <a:ln/>
        </p:spPr>
      </p:sp>
      <p:sp>
        <p:nvSpPr>
          <p:cNvPr id="16" name="Text 14"/>
          <p:cNvSpPr/>
          <p:nvPr/>
        </p:nvSpPr>
        <p:spPr>
          <a:xfrm>
            <a:off x="9606677" y="4071342"/>
            <a:ext cx="2694623"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AI Content Generation</a:t>
            </a:r>
            <a:endParaRPr lang="en-US" sz="1900" dirty="0"/>
          </a:p>
        </p:txBody>
      </p:sp>
      <p:sp>
        <p:nvSpPr>
          <p:cNvPr id="17" name="Text 15"/>
          <p:cNvSpPr/>
          <p:nvPr/>
        </p:nvSpPr>
        <p:spPr>
          <a:xfrm>
            <a:off x="9606677" y="4509492"/>
            <a:ext cx="4142542"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Watch as intelligent algorithms craft your professional narrative</a:t>
            </a:r>
            <a:endParaRPr lang="en-US" sz="1700" dirty="0"/>
          </a:p>
        </p:txBody>
      </p:sp>
      <p:sp>
        <p:nvSpPr>
          <p:cNvPr id="18" name="Text 16"/>
          <p:cNvSpPr/>
          <p:nvPr/>
        </p:nvSpPr>
        <p:spPr>
          <a:xfrm>
            <a:off x="881063" y="5599748"/>
            <a:ext cx="220266" cy="275273"/>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Prompt Light" pitchFamily="34" charset="0"/>
                <a:ea typeface="Prompt Light" pitchFamily="34" charset="-122"/>
                <a:cs typeface="Prompt Light" pitchFamily="34" charset="-120"/>
              </a:rPr>
              <a:t>04</a:t>
            </a:r>
            <a:endParaRPr lang="en-US" sz="1700" dirty="0"/>
          </a:p>
        </p:txBody>
      </p:sp>
      <p:sp>
        <p:nvSpPr>
          <p:cNvPr id="19" name="Shape 17"/>
          <p:cNvSpPr/>
          <p:nvPr/>
        </p:nvSpPr>
        <p:spPr>
          <a:xfrm>
            <a:off x="881063" y="5943600"/>
            <a:ext cx="6323886" cy="30480"/>
          </a:xfrm>
          <a:prstGeom prst="rect">
            <a:avLst/>
          </a:prstGeom>
          <a:solidFill>
            <a:srgbClr val="A95B95"/>
          </a:solidFill>
          <a:ln/>
        </p:spPr>
      </p:sp>
      <p:sp>
        <p:nvSpPr>
          <p:cNvPr id="20" name="Text 18"/>
          <p:cNvSpPr/>
          <p:nvPr/>
        </p:nvSpPr>
        <p:spPr>
          <a:xfrm>
            <a:off x="881063" y="6114693"/>
            <a:ext cx="2447687"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Review and Refine</a:t>
            </a:r>
            <a:endParaRPr lang="en-US" sz="1900" dirty="0"/>
          </a:p>
        </p:txBody>
      </p:sp>
      <p:sp>
        <p:nvSpPr>
          <p:cNvPr id="21" name="Text 19"/>
          <p:cNvSpPr/>
          <p:nvPr/>
        </p:nvSpPr>
        <p:spPr>
          <a:xfrm>
            <a:off x="881063" y="6552843"/>
            <a:ext cx="6323886" cy="352425"/>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Real-time preview with editing capabilities for perfect results</a:t>
            </a:r>
            <a:endParaRPr lang="en-US" sz="1700" dirty="0"/>
          </a:p>
        </p:txBody>
      </p:sp>
      <p:sp>
        <p:nvSpPr>
          <p:cNvPr id="22" name="Text 20"/>
          <p:cNvSpPr/>
          <p:nvPr/>
        </p:nvSpPr>
        <p:spPr>
          <a:xfrm>
            <a:off x="7425214" y="5599748"/>
            <a:ext cx="220266" cy="275273"/>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Prompt Light" pitchFamily="34" charset="0"/>
                <a:ea typeface="Prompt Light" pitchFamily="34" charset="-122"/>
                <a:cs typeface="Prompt Light" pitchFamily="34" charset="-120"/>
              </a:rPr>
              <a:t>05</a:t>
            </a:r>
            <a:endParaRPr lang="en-US" sz="1700" dirty="0"/>
          </a:p>
        </p:txBody>
      </p:sp>
      <p:sp>
        <p:nvSpPr>
          <p:cNvPr id="23" name="Shape 21"/>
          <p:cNvSpPr/>
          <p:nvPr/>
        </p:nvSpPr>
        <p:spPr>
          <a:xfrm>
            <a:off x="7425214" y="5943600"/>
            <a:ext cx="6324005" cy="30480"/>
          </a:xfrm>
          <a:prstGeom prst="rect">
            <a:avLst/>
          </a:prstGeom>
          <a:solidFill>
            <a:srgbClr val="A95B95"/>
          </a:solidFill>
          <a:ln/>
        </p:spPr>
      </p:sp>
      <p:sp>
        <p:nvSpPr>
          <p:cNvPr id="24" name="Text 22"/>
          <p:cNvSpPr/>
          <p:nvPr/>
        </p:nvSpPr>
        <p:spPr>
          <a:xfrm>
            <a:off x="7425214" y="6114693"/>
            <a:ext cx="2447687"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Export and Apply</a:t>
            </a:r>
            <a:endParaRPr lang="en-US" sz="1900" dirty="0"/>
          </a:p>
        </p:txBody>
      </p:sp>
      <p:sp>
        <p:nvSpPr>
          <p:cNvPr id="25" name="Text 23"/>
          <p:cNvSpPr/>
          <p:nvPr/>
        </p:nvSpPr>
        <p:spPr>
          <a:xfrm>
            <a:off x="7425214" y="6552843"/>
            <a:ext cx="6324005" cy="352425"/>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Download in PDF or DOCX format, ready for job applications</a:t>
            </a:r>
            <a:endParaRPr lang="en-US" sz="1700" dirty="0"/>
          </a:p>
        </p:txBody>
      </p:sp>
      <p:sp>
        <p:nvSpPr>
          <p:cNvPr id="26" name="Rectangle 25">
            <a:extLst>
              <a:ext uri="{FF2B5EF4-FFF2-40B4-BE49-F238E27FC236}">
                <a16:creationId xmlns:a16="http://schemas.microsoft.com/office/drawing/2014/main" id="{063CC84E-199D-39BC-4B94-CF12CCB34314}"/>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DAC43-69C8-3860-84FA-115A1D02BD30}"/>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AC866041-548F-540C-28CF-1B3531627E0A}"/>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32028D0C-D557-C80D-6B0C-CDFCFFD06A9A}"/>
              </a:ext>
            </a:extLst>
          </p:cNvPr>
          <p:cNvSpPr txBox="1"/>
          <p:nvPr/>
        </p:nvSpPr>
        <p:spPr>
          <a:xfrm>
            <a:off x="1582615" y="577767"/>
            <a:ext cx="11465170" cy="707886"/>
          </a:xfrm>
          <a:prstGeom prst="rect">
            <a:avLst/>
          </a:prstGeom>
          <a:noFill/>
        </p:spPr>
        <p:txBody>
          <a:bodyPr wrap="square" rtlCol="0">
            <a:spAutoFit/>
          </a:bodyPr>
          <a:lstStyle/>
          <a:p>
            <a:r>
              <a:rPr lang="en-US" sz="4000" dirty="0">
                <a:solidFill>
                  <a:schemeClr val="bg1"/>
                </a:solidFill>
              </a:rPr>
              <a:t>Technology Stack:</a:t>
            </a:r>
          </a:p>
        </p:txBody>
      </p:sp>
      <p:sp>
        <p:nvSpPr>
          <p:cNvPr id="3" name="TextBox 2">
            <a:extLst>
              <a:ext uri="{FF2B5EF4-FFF2-40B4-BE49-F238E27FC236}">
                <a16:creationId xmlns:a16="http://schemas.microsoft.com/office/drawing/2014/main" id="{F34ECF94-DE37-97D5-9594-8225BD4C5BF1}"/>
              </a:ext>
            </a:extLst>
          </p:cNvPr>
          <p:cNvSpPr txBox="1"/>
          <p:nvPr/>
        </p:nvSpPr>
        <p:spPr>
          <a:xfrm>
            <a:off x="721536" y="2883877"/>
            <a:ext cx="8405447" cy="3170099"/>
          </a:xfrm>
          <a:prstGeom prst="rect">
            <a:avLst/>
          </a:prstGeom>
          <a:noFill/>
        </p:spPr>
        <p:txBody>
          <a:bodyPr wrap="square" rtlCol="0">
            <a:spAutoFit/>
          </a:bodyPr>
          <a:lstStyle/>
          <a:p>
            <a:r>
              <a:rPr lang="en-IN" sz="2000" b="1" dirty="0">
                <a:solidFill>
                  <a:schemeClr val="bg1"/>
                </a:solidFill>
              </a:rPr>
              <a:t>Technology Stack – AI Resume Builder &amp; Skill Gap Analyzer</a:t>
            </a:r>
          </a:p>
          <a:p>
            <a:r>
              <a:rPr lang="en-IN" sz="2000" b="1" dirty="0">
                <a:solidFill>
                  <a:schemeClr val="bg1"/>
                </a:solidFill>
              </a:rPr>
              <a:t>UI/UX Design:</a:t>
            </a:r>
            <a:r>
              <a:rPr lang="en-IN" sz="2000" dirty="0">
                <a:solidFill>
                  <a:schemeClr val="bg1"/>
                </a:solidFill>
              </a:rPr>
              <a:t> Figma</a:t>
            </a:r>
          </a:p>
          <a:p>
            <a:r>
              <a:rPr lang="en-IN" sz="2000" b="1" dirty="0">
                <a:solidFill>
                  <a:schemeClr val="bg1"/>
                </a:solidFill>
              </a:rPr>
              <a:t>Frontend:</a:t>
            </a:r>
            <a:r>
              <a:rPr lang="en-IN" sz="2000" dirty="0">
                <a:solidFill>
                  <a:schemeClr val="bg1"/>
                </a:solidFill>
              </a:rPr>
              <a:t> React.js, TypeScript, HTML5, CSS3, Tailwind CSS, JavaScript</a:t>
            </a:r>
          </a:p>
          <a:p>
            <a:r>
              <a:rPr lang="en-IN" sz="2000" b="1" dirty="0">
                <a:solidFill>
                  <a:schemeClr val="bg1"/>
                </a:solidFill>
              </a:rPr>
              <a:t>Backend:</a:t>
            </a:r>
            <a:r>
              <a:rPr lang="en-IN" sz="2000" dirty="0">
                <a:solidFill>
                  <a:schemeClr val="bg1"/>
                </a:solidFill>
              </a:rPr>
              <a:t> Node.js, Express.js / Next.js API Routes</a:t>
            </a:r>
          </a:p>
          <a:p>
            <a:r>
              <a:rPr lang="en-IN" sz="2000" b="1" dirty="0">
                <a:solidFill>
                  <a:schemeClr val="bg1"/>
                </a:solidFill>
              </a:rPr>
              <a:t>AI &amp; NLP:</a:t>
            </a:r>
            <a:r>
              <a:rPr lang="en-IN" sz="2000" dirty="0">
                <a:solidFill>
                  <a:schemeClr val="bg1"/>
                </a:solidFill>
              </a:rPr>
              <a:t> OpenAI GPT APIs, Prompt Engineering, NLP Techniques</a:t>
            </a:r>
          </a:p>
          <a:p>
            <a:r>
              <a:rPr lang="en-IN" sz="2000" b="1" dirty="0">
                <a:solidFill>
                  <a:schemeClr val="bg1"/>
                </a:solidFill>
              </a:rPr>
              <a:t>Skill Gap Analysis:</a:t>
            </a:r>
            <a:r>
              <a:rPr lang="en-IN" sz="2000" dirty="0">
                <a:solidFill>
                  <a:schemeClr val="bg1"/>
                </a:solidFill>
              </a:rPr>
              <a:t> Rule-based logic + AI reasoning, JSON skill taxonomy</a:t>
            </a:r>
          </a:p>
          <a:p>
            <a:r>
              <a:rPr lang="en-IN" sz="2000" b="1" dirty="0">
                <a:solidFill>
                  <a:schemeClr val="bg1"/>
                </a:solidFill>
              </a:rPr>
              <a:t>Resume Rendering:</a:t>
            </a:r>
            <a:r>
              <a:rPr lang="en-IN" sz="2000" dirty="0">
                <a:solidFill>
                  <a:schemeClr val="bg1"/>
                </a:solidFill>
              </a:rPr>
              <a:t> HTML/CSS Templates, PDF Generation (Puppeteer / </a:t>
            </a:r>
            <a:r>
              <a:rPr lang="en-IN" sz="2000" dirty="0" err="1">
                <a:solidFill>
                  <a:schemeClr val="bg1"/>
                </a:solidFill>
              </a:rPr>
              <a:t>jsPDF</a:t>
            </a:r>
            <a:r>
              <a:rPr lang="en-IN" sz="2000" dirty="0">
                <a:solidFill>
                  <a:schemeClr val="bg1"/>
                </a:solidFill>
              </a:rPr>
              <a:t>)</a:t>
            </a:r>
          </a:p>
          <a:p>
            <a:r>
              <a:rPr lang="en-IN" sz="2000" b="1" dirty="0">
                <a:solidFill>
                  <a:schemeClr val="bg1"/>
                </a:solidFill>
              </a:rPr>
              <a:t>Database:</a:t>
            </a:r>
            <a:r>
              <a:rPr lang="en-IN" sz="2000" dirty="0">
                <a:solidFill>
                  <a:schemeClr val="bg1"/>
                </a:solidFill>
              </a:rPr>
              <a:t> MongoDB / Firebase (optional)</a:t>
            </a:r>
          </a:p>
          <a:p>
            <a:r>
              <a:rPr lang="en-IN" sz="2000" b="1" dirty="0">
                <a:solidFill>
                  <a:schemeClr val="bg1"/>
                </a:solidFill>
              </a:rPr>
              <a:t>Deployment:</a:t>
            </a:r>
            <a:r>
              <a:rPr lang="en-IN" sz="2000" dirty="0">
                <a:solidFill>
                  <a:schemeClr val="bg1"/>
                </a:solidFill>
              </a:rPr>
              <a:t> </a:t>
            </a:r>
            <a:r>
              <a:rPr lang="en-IN" sz="2000" dirty="0" err="1">
                <a:solidFill>
                  <a:schemeClr val="bg1"/>
                </a:solidFill>
              </a:rPr>
              <a:t>Vercel</a:t>
            </a:r>
            <a:r>
              <a:rPr lang="en-IN" sz="2000" dirty="0">
                <a:solidFill>
                  <a:schemeClr val="bg1"/>
                </a:solidFill>
              </a:rPr>
              <a:t> / Netlify / Cloud Platforms</a:t>
            </a:r>
          </a:p>
          <a:p>
            <a:endParaRPr lang="en-IN" sz="2000" dirty="0">
              <a:solidFill>
                <a:schemeClr val="bg1"/>
              </a:solidFill>
            </a:endParaRPr>
          </a:p>
        </p:txBody>
      </p:sp>
      <p:pic>
        <p:nvPicPr>
          <p:cNvPr id="5" name="Image 0" descr="preencoded.png">
            <a:extLst>
              <a:ext uri="{FF2B5EF4-FFF2-40B4-BE49-F238E27FC236}">
                <a16:creationId xmlns:a16="http://schemas.microsoft.com/office/drawing/2014/main" id="{26EBC4CF-560C-CA86-4CA3-00BDD44BA9D3}"/>
              </a:ext>
            </a:extLst>
          </p:cNvPr>
          <p:cNvPicPr>
            <a:picLocks noChangeAspect="1"/>
          </p:cNvPicPr>
          <p:nvPr/>
        </p:nvPicPr>
        <p:blipFill>
          <a:blip r:embed="rId3"/>
          <a:stretch>
            <a:fillRect/>
          </a:stretch>
        </p:blipFill>
        <p:spPr>
          <a:xfrm>
            <a:off x="9309956" y="2169472"/>
            <a:ext cx="4598908" cy="4598908"/>
          </a:xfrm>
          <a:prstGeom prst="rect">
            <a:avLst/>
          </a:prstGeom>
        </p:spPr>
      </p:pic>
    </p:spTree>
    <p:extLst>
      <p:ext uri="{BB962C8B-B14F-4D97-AF65-F5344CB8AC3E}">
        <p14:creationId xmlns:p14="http://schemas.microsoft.com/office/powerpoint/2010/main" val="613101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C1852-CF68-339D-0C95-4BCCE8887AC9}"/>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8573C12F-DCF9-B845-E580-9800CCE5BBDB}"/>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Picture 27">
            <a:extLst>
              <a:ext uri="{FF2B5EF4-FFF2-40B4-BE49-F238E27FC236}">
                <a16:creationId xmlns:a16="http://schemas.microsoft.com/office/drawing/2014/main" id="{3431226C-65B7-44D3-B7B0-60589B02F84A}"/>
              </a:ext>
            </a:extLst>
          </p:cNvPr>
          <p:cNvPicPr>
            <a:picLocks noChangeAspect="1"/>
          </p:cNvPicPr>
          <p:nvPr/>
        </p:nvPicPr>
        <p:blipFill>
          <a:blip r:embed="rId3"/>
          <a:stretch>
            <a:fillRect/>
          </a:stretch>
        </p:blipFill>
        <p:spPr>
          <a:xfrm>
            <a:off x="249885" y="201084"/>
            <a:ext cx="6735115" cy="3786716"/>
          </a:xfrm>
          <a:prstGeom prst="rect">
            <a:avLst/>
          </a:prstGeom>
        </p:spPr>
      </p:pic>
      <p:pic>
        <p:nvPicPr>
          <p:cNvPr id="30" name="Picture 29">
            <a:extLst>
              <a:ext uri="{FF2B5EF4-FFF2-40B4-BE49-F238E27FC236}">
                <a16:creationId xmlns:a16="http://schemas.microsoft.com/office/drawing/2014/main" id="{AC1F7A9B-57FB-8789-FB13-5EE220F0FB31}"/>
              </a:ext>
            </a:extLst>
          </p:cNvPr>
          <p:cNvPicPr>
            <a:picLocks noChangeAspect="1"/>
          </p:cNvPicPr>
          <p:nvPr/>
        </p:nvPicPr>
        <p:blipFill>
          <a:blip r:embed="rId4"/>
          <a:stretch>
            <a:fillRect/>
          </a:stretch>
        </p:blipFill>
        <p:spPr>
          <a:xfrm>
            <a:off x="7645402" y="3987800"/>
            <a:ext cx="6577930" cy="3996295"/>
          </a:xfrm>
          <a:prstGeom prst="rect">
            <a:avLst/>
          </a:prstGeom>
        </p:spPr>
      </p:pic>
      <p:sp>
        <p:nvSpPr>
          <p:cNvPr id="31" name="TextBox 30">
            <a:extLst>
              <a:ext uri="{FF2B5EF4-FFF2-40B4-BE49-F238E27FC236}">
                <a16:creationId xmlns:a16="http://schemas.microsoft.com/office/drawing/2014/main" id="{9FA80D03-B83A-5202-3E08-61E82219B7F9}"/>
              </a:ext>
            </a:extLst>
          </p:cNvPr>
          <p:cNvSpPr txBox="1"/>
          <p:nvPr/>
        </p:nvSpPr>
        <p:spPr>
          <a:xfrm>
            <a:off x="8603917" y="1432722"/>
            <a:ext cx="4660900" cy="1323439"/>
          </a:xfrm>
          <a:prstGeom prst="rect">
            <a:avLst/>
          </a:prstGeom>
          <a:noFill/>
        </p:spPr>
        <p:txBody>
          <a:bodyPr wrap="square" rtlCol="0">
            <a:spAutoFit/>
          </a:bodyPr>
          <a:lstStyle/>
          <a:p>
            <a:r>
              <a:rPr lang="en-US" sz="4000" dirty="0">
                <a:solidFill>
                  <a:schemeClr val="bg1"/>
                </a:solidFill>
              </a:rPr>
              <a:t>Project Image:</a:t>
            </a:r>
            <a:br>
              <a:rPr lang="en-US" sz="4000" dirty="0">
                <a:solidFill>
                  <a:schemeClr val="bg1"/>
                </a:solidFill>
              </a:rPr>
            </a:br>
            <a:r>
              <a:rPr lang="en-US" sz="4000" dirty="0">
                <a:solidFill>
                  <a:schemeClr val="bg1"/>
                </a:solidFill>
              </a:rPr>
              <a:t>Gosh Resume Builder</a:t>
            </a:r>
            <a:endParaRPr lang="en-IN" sz="4000" dirty="0">
              <a:solidFill>
                <a:schemeClr val="bg1"/>
              </a:solidFill>
            </a:endParaRPr>
          </a:p>
        </p:txBody>
      </p:sp>
      <p:sp>
        <p:nvSpPr>
          <p:cNvPr id="32" name="TextBox 31">
            <a:extLst>
              <a:ext uri="{FF2B5EF4-FFF2-40B4-BE49-F238E27FC236}">
                <a16:creationId xmlns:a16="http://schemas.microsoft.com/office/drawing/2014/main" id="{3C942850-9861-EAE8-5B12-09633353CA62}"/>
              </a:ext>
            </a:extLst>
          </p:cNvPr>
          <p:cNvSpPr txBox="1"/>
          <p:nvPr/>
        </p:nvSpPr>
        <p:spPr>
          <a:xfrm>
            <a:off x="1147292" y="4554786"/>
            <a:ext cx="4940300" cy="2862322"/>
          </a:xfrm>
          <a:prstGeom prst="rect">
            <a:avLst/>
          </a:prstGeom>
          <a:noFill/>
        </p:spPr>
        <p:txBody>
          <a:bodyPr wrap="square" rtlCol="0">
            <a:spAutoFit/>
          </a:bodyPr>
          <a:lstStyle/>
          <a:p>
            <a:r>
              <a:rPr lang="en-US" sz="3600" dirty="0">
                <a:solidFill>
                  <a:schemeClr val="bg1"/>
                </a:solidFill>
              </a:rPr>
              <a:t>Where the Information we Enter, Evolves into a Stunning and Professional Resume with loads of templates</a:t>
            </a:r>
            <a:endParaRPr lang="en-IN" sz="3600" dirty="0">
              <a:solidFill>
                <a:schemeClr val="bg1"/>
              </a:solidFill>
            </a:endParaRPr>
          </a:p>
        </p:txBody>
      </p:sp>
    </p:spTree>
    <p:extLst>
      <p:ext uri="{BB962C8B-B14F-4D97-AF65-F5344CB8AC3E}">
        <p14:creationId xmlns:p14="http://schemas.microsoft.com/office/powerpoint/2010/main" val="3344214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9085C-A2D6-EF44-806D-674B346B96FA}"/>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ABC14D5D-86FF-5D3C-52B7-18FCBB8FF420}"/>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5B1A1022-4742-E384-D340-E6CD6A5D567B}"/>
              </a:ext>
            </a:extLst>
          </p:cNvPr>
          <p:cNvPicPr>
            <a:picLocks noChangeAspect="1"/>
          </p:cNvPicPr>
          <p:nvPr/>
        </p:nvPicPr>
        <p:blipFill>
          <a:blip r:embed="rId3"/>
          <a:stretch>
            <a:fillRect/>
          </a:stretch>
        </p:blipFill>
        <p:spPr>
          <a:xfrm>
            <a:off x="451518" y="366188"/>
            <a:ext cx="6596983" cy="3748611"/>
          </a:xfrm>
          <a:prstGeom prst="rect">
            <a:avLst/>
          </a:prstGeom>
        </p:spPr>
      </p:pic>
      <p:pic>
        <p:nvPicPr>
          <p:cNvPr id="5" name="Picture 4">
            <a:extLst>
              <a:ext uri="{FF2B5EF4-FFF2-40B4-BE49-F238E27FC236}">
                <a16:creationId xmlns:a16="http://schemas.microsoft.com/office/drawing/2014/main" id="{5F752110-9E6D-531C-67DD-B8DB406AB13E}"/>
              </a:ext>
            </a:extLst>
          </p:cNvPr>
          <p:cNvPicPr>
            <a:picLocks noChangeAspect="1"/>
          </p:cNvPicPr>
          <p:nvPr/>
        </p:nvPicPr>
        <p:blipFill>
          <a:blip r:embed="rId4"/>
          <a:stretch>
            <a:fillRect/>
          </a:stretch>
        </p:blipFill>
        <p:spPr>
          <a:xfrm>
            <a:off x="7581900" y="4114799"/>
            <a:ext cx="6611272" cy="3881979"/>
          </a:xfrm>
          <a:prstGeom prst="rect">
            <a:avLst/>
          </a:prstGeom>
        </p:spPr>
      </p:pic>
      <p:sp>
        <p:nvSpPr>
          <p:cNvPr id="6" name="TextBox 5">
            <a:extLst>
              <a:ext uri="{FF2B5EF4-FFF2-40B4-BE49-F238E27FC236}">
                <a16:creationId xmlns:a16="http://schemas.microsoft.com/office/drawing/2014/main" id="{A5A12F68-44B0-576B-94DD-E4C7B2F70215}"/>
              </a:ext>
            </a:extLst>
          </p:cNvPr>
          <p:cNvSpPr txBox="1"/>
          <p:nvPr/>
        </p:nvSpPr>
        <p:spPr>
          <a:xfrm>
            <a:off x="9016104" y="1886550"/>
            <a:ext cx="3742864" cy="707886"/>
          </a:xfrm>
          <a:prstGeom prst="rect">
            <a:avLst/>
          </a:prstGeom>
          <a:noFill/>
        </p:spPr>
        <p:txBody>
          <a:bodyPr wrap="square" rtlCol="0">
            <a:spAutoFit/>
          </a:bodyPr>
          <a:lstStyle/>
          <a:p>
            <a:r>
              <a:rPr lang="en-US" sz="4000" dirty="0">
                <a:solidFill>
                  <a:schemeClr val="bg1"/>
                </a:solidFill>
              </a:rPr>
              <a:t>Skill Gap Analysis</a:t>
            </a:r>
            <a:endParaRPr lang="en-IN" sz="4000" dirty="0">
              <a:solidFill>
                <a:schemeClr val="bg1"/>
              </a:solidFill>
            </a:endParaRPr>
          </a:p>
        </p:txBody>
      </p:sp>
      <p:sp>
        <p:nvSpPr>
          <p:cNvPr id="7" name="TextBox 6">
            <a:extLst>
              <a:ext uri="{FF2B5EF4-FFF2-40B4-BE49-F238E27FC236}">
                <a16:creationId xmlns:a16="http://schemas.microsoft.com/office/drawing/2014/main" id="{23E49860-840E-BE73-1782-A746C07203DB}"/>
              </a:ext>
            </a:extLst>
          </p:cNvPr>
          <p:cNvSpPr txBox="1"/>
          <p:nvPr/>
        </p:nvSpPr>
        <p:spPr>
          <a:xfrm>
            <a:off x="759158" y="4624627"/>
            <a:ext cx="5981701" cy="2862322"/>
          </a:xfrm>
          <a:prstGeom prst="rect">
            <a:avLst/>
          </a:prstGeom>
          <a:noFill/>
        </p:spPr>
        <p:txBody>
          <a:bodyPr wrap="square" rtlCol="0">
            <a:spAutoFit/>
          </a:bodyPr>
          <a:lstStyle/>
          <a:p>
            <a:r>
              <a:rPr lang="en-US" sz="3600" dirty="0">
                <a:solidFill>
                  <a:schemeClr val="bg1"/>
                </a:solidFill>
              </a:rPr>
              <a:t>Where the Skills we Entered are Checked and Matched with our Selected Job Role and Suggesting the best Skills for the role</a:t>
            </a:r>
            <a:endParaRPr lang="en-IN" sz="3600" dirty="0">
              <a:solidFill>
                <a:schemeClr val="bg1"/>
              </a:solidFill>
            </a:endParaRPr>
          </a:p>
        </p:txBody>
      </p:sp>
    </p:spTree>
    <p:extLst>
      <p:ext uri="{BB962C8B-B14F-4D97-AF65-F5344CB8AC3E}">
        <p14:creationId xmlns:p14="http://schemas.microsoft.com/office/powerpoint/2010/main" val="2981930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67462" y="796766"/>
            <a:ext cx="6210776" cy="489466"/>
          </a:xfrm>
          <a:prstGeom prst="rect">
            <a:avLst/>
          </a:prstGeom>
          <a:noFill/>
          <a:ln/>
        </p:spPr>
        <p:txBody>
          <a:bodyPr wrap="none" lIns="0" tIns="0" rIns="0" bIns="0" rtlCol="0" anchor="t"/>
          <a:lstStyle/>
          <a:p>
            <a:pPr marL="0" indent="0" algn="l">
              <a:lnSpc>
                <a:spcPts val="3850"/>
              </a:lnSpc>
              <a:buNone/>
            </a:pPr>
            <a:r>
              <a:rPr lang="en-US" sz="3050" dirty="0">
                <a:solidFill>
                  <a:srgbClr val="C6BFEE"/>
                </a:solidFill>
                <a:latin typeface="Prompt Medium" pitchFamily="34" charset="0"/>
                <a:ea typeface="Prompt Medium" pitchFamily="34" charset="-122"/>
                <a:cs typeface="Prompt Medium" pitchFamily="34" charset="-120"/>
              </a:rPr>
              <a:t>Start Building Your Future Today</a:t>
            </a:r>
            <a:endParaRPr lang="en-US" sz="3050" dirty="0"/>
          </a:p>
        </p:txBody>
      </p:sp>
      <p:sp>
        <p:nvSpPr>
          <p:cNvPr id="4" name="Shape 1"/>
          <p:cNvSpPr/>
          <p:nvPr/>
        </p:nvSpPr>
        <p:spPr>
          <a:xfrm>
            <a:off x="6367462" y="1497687"/>
            <a:ext cx="7381875" cy="1288971"/>
          </a:xfrm>
          <a:prstGeom prst="roundRect">
            <a:avLst>
              <a:gd name="adj" fmla="val 5743"/>
            </a:avLst>
          </a:prstGeom>
          <a:solidFill>
            <a:srgbClr val="542C49"/>
          </a:solidFill>
          <a:ln w="7620">
            <a:solidFill>
              <a:srgbClr val="6D4562"/>
            </a:solidFill>
            <a:prstDash val="solid"/>
          </a:ln>
        </p:spPr>
      </p:sp>
      <p:sp>
        <p:nvSpPr>
          <p:cNvPr id="5" name="Text 2"/>
          <p:cNvSpPr/>
          <p:nvPr/>
        </p:nvSpPr>
        <p:spPr>
          <a:xfrm>
            <a:off x="6551295" y="1681520"/>
            <a:ext cx="2128480"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Explore the Prototype</a:t>
            </a:r>
            <a:endParaRPr lang="en-US" sz="1500" dirty="0"/>
          </a:p>
        </p:txBody>
      </p:sp>
      <p:sp>
        <p:nvSpPr>
          <p:cNvPr id="6" name="Text 3"/>
          <p:cNvSpPr/>
          <p:nvPr/>
        </p:nvSpPr>
        <p:spPr>
          <a:xfrm>
            <a:off x="6551295" y="2010847"/>
            <a:ext cx="7014210" cy="253722"/>
          </a:xfrm>
          <a:prstGeom prst="rect">
            <a:avLst/>
          </a:prstGeom>
          <a:noFill/>
          <a:ln/>
        </p:spPr>
        <p:txBody>
          <a:bodyPr wrap="none" lIns="0" tIns="0" rIns="0" bIns="0" rtlCol="0" anchor="t"/>
          <a:lstStyle/>
          <a:p>
            <a:pPr marL="0" indent="0" algn="l">
              <a:lnSpc>
                <a:spcPts val="1950"/>
              </a:lnSpc>
              <a:buNone/>
            </a:pPr>
            <a:r>
              <a:rPr lang="en-US" sz="1350" dirty="0">
                <a:solidFill>
                  <a:srgbClr val="DAD8E9"/>
                </a:solidFill>
                <a:latin typeface="Mukta Light" pitchFamily="34" charset="0"/>
                <a:ea typeface="Mukta Light" pitchFamily="34" charset="-122"/>
                <a:cs typeface="Mukta Light" pitchFamily="34" charset="-120"/>
              </a:rPr>
              <a:t>View our complete design and workflow in Figma to understand the full user experience</a:t>
            </a:r>
            <a:endParaRPr lang="en-US" sz="1350" dirty="0"/>
          </a:p>
        </p:txBody>
      </p:sp>
      <p:sp>
        <p:nvSpPr>
          <p:cNvPr id="7" name="Text 4"/>
          <p:cNvSpPr/>
          <p:nvPr/>
        </p:nvSpPr>
        <p:spPr>
          <a:xfrm>
            <a:off x="6551295" y="2349103"/>
            <a:ext cx="7014210" cy="253722"/>
          </a:xfrm>
          <a:prstGeom prst="rect">
            <a:avLst/>
          </a:prstGeom>
          <a:noFill/>
          <a:ln/>
        </p:spPr>
        <p:txBody>
          <a:bodyPr wrap="none" lIns="0" tIns="0" rIns="0" bIns="0" rtlCol="0" anchor="t"/>
          <a:lstStyle/>
          <a:p>
            <a:pPr marL="0" indent="0" algn="l">
              <a:lnSpc>
                <a:spcPts val="1950"/>
              </a:lnSpc>
              <a:buNone/>
            </a:pPr>
            <a:r>
              <a:rPr lang="en-US" sz="1350" u="sng" dirty="0">
                <a:solidFill>
                  <a:srgbClr val="A95B95"/>
                </a:solidFill>
                <a:latin typeface="Mukta Light" pitchFamily="34" charset="0"/>
                <a:ea typeface="Mukta Light" pitchFamily="34" charset="-122"/>
                <a:cs typeface="Mukta Light" pitchFamily="34" charset="-120"/>
                <a:hlinkClick r:id="rId4">
                  <a:extLst>
                    <a:ext uri="{A12FA001-AC4F-418D-AE19-62706E023703}">
                      <ahyp:hlinkClr xmlns:ahyp="http://schemas.microsoft.com/office/drawing/2018/hyperlinkcolor" val="tx"/>
                    </a:ext>
                  </a:extLst>
                </a:hlinkClick>
              </a:rPr>
              <a:t>Access Figma Prototype</a:t>
            </a:r>
            <a:endParaRPr lang="en-US" sz="1350" dirty="0"/>
          </a:p>
        </p:txBody>
      </p:sp>
      <p:sp>
        <p:nvSpPr>
          <p:cNvPr id="8" name="Shape 5"/>
          <p:cNvSpPr/>
          <p:nvPr/>
        </p:nvSpPr>
        <p:spPr>
          <a:xfrm>
            <a:off x="6367462" y="2927628"/>
            <a:ext cx="7381875" cy="2162770"/>
          </a:xfrm>
          <a:prstGeom prst="roundRect">
            <a:avLst>
              <a:gd name="adj" fmla="val 3422"/>
            </a:avLst>
          </a:prstGeom>
          <a:solidFill>
            <a:srgbClr val="542C49"/>
          </a:solidFill>
          <a:ln w="7620">
            <a:solidFill>
              <a:srgbClr val="6D4562"/>
            </a:solidFill>
            <a:prstDash val="solid"/>
          </a:ln>
        </p:spPr>
      </p:sp>
      <p:sp>
        <p:nvSpPr>
          <p:cNvPr id="9" name="Text 6"/>
          <p:cNvSpPr/>
          <p:nvPr/>
        </p:nvSpPr>
        <p:spPr>
          <a:xfrm>
            <a:off x="6551295" y="3111460"/>
            <a:ext cx="1958102" cy="244793"/>
          </a:xfrm>
          <a:prstGeom prst="rect">
            <a:avLst/>
          </a:prstGeom>
          <a:noFill/>
          <a:ln/>
        </p:spPr>
        <p:txBody>
          <a:bodyPr wrap="none" lIns="0" tIns="0" rIns="0" bIns="0" rtlCol="0" anchor="t"/>
          <a:lstStyle/>
          <a:p>
            <a:pPr marL="0" indent="0" algn="l">
              <a:lnSpc>
                <a:spcPts val="1900"/>
              </a:lnSpc>
              <a:buNone/>
            </a:pPr>
            <a:r>
              <a:rPr lang="en-US" sz="1500" dirty="0">
                <a:solidFill>
                  <a:srgbClr val="DAD8E9"/>
                </a:solidFill>
                <a:latin typeface="Prompt Medium" pitchFamily="34" charset="0"/>
                <a:ea typeface="Prompt Medium" pitchFamily="34" charset="-122"/>
                <a:cs typeface="Prompt Medium" pitchFamily="34" charset="-120"/>
              </a:rPr>
              <a:t>Key Benefits Recap</a:t>
            </a:r>
            <a:endParaRPr lang="en-US" sz="1500" dirty="0"/>
          </a:p>
        </p:txBody>
      </p:sp>
      <p:sp>
        <p:nvSpPr>
          <p:cNvPr id="10" name="Text 7"/>
          <p:cNvSpPr/>
          <p:nvPr/>
        </p:nvSpPr>
        <p:spPr>
          <a:xfrm>
            <a:off x="6551295" y="3440787"/>
            <a:ext cx="701421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ATS-optimized professional resumes</a:t>
            </a:r>
            <a:endParaRPr lang="en-US" sz="1350" dirty="0"/>
          </a:p>
        </p:txBody>
      </p:sp>
      <p:sp>
        <p:nvSpPr>
          <p:cNvPr id="11" name="Text 8"/>
          <p:cNvSpPr/>
          <p:nvPr/>
        </p:nvSpPr>
        <p:spPr>
          <a:xfrm>
            <a:off x="6551295" y="3743801"/>
            <a:ext cx="701421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Real-time skill gap analysis</a:t>
            </a:r>
            <a:endParaRPr lang="en-US" sz="1350" dirty="0"/>
          </a:p>
        </p:txBody>
      </p:sp>
      <p:sp>
        <p:nvSpPr>
          <p:cNvPr id="12" name="Text 9"/>
          <p:cNvSpPr/>
          <p:nvPr/>
        </p:nvSpPr>
        <p:spPr>
          <a:xfrm>
            <a:off x="6551295" y="4046815"/>
            <a:ext cx="701421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Multiple template options</a:t>
            </a:r>
            <a:endParaRPr lang="en-US" sz="1350" dirty="0"/>
          </a:p>
        </p:txBody>
      </p:sp>
      <p:sp>
        <p:nvSpPr>
          <p:cNvPr id="13" name="Text 10"/>
          <p:cNvSpPr/>
          <p:nvPr/>
        </p:nvSpPr>
        <p:spPr>
          <a:xfrm>
            <a:off x="6551295" y="4349829"/>
            <a:ext cx="701421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Ethical AI-powered generation</a:t>
            </a:r>
            <a:endParaRPr lang="en-US" sz="1350" dirty="0"/>
          </a:p>
        </p:txBody>
      </p:sp>
      <p:sp>
        <p:nvSpPr>
          <p:cNvPr id="14" name="Text 11"/>
          <p:cNvSpPr/>
          <p:nvPr/>
        </p:nvSpPr>
        <p:spPr>
          <a:xfrm>
            <a:off x="6551295" y="4652843"/>
            <a:ext cx="7014210" cy="253722"/>
          </a:xfrm>
          <a:prstGeom prst="rect">
            <a:avLst/>
          </a:prstGeom>
          <a:noFill/>
          <a:ln/>
        </p:spPr>
        <p:txBody>
          <a:bodyPr wrap="none" lIns="0" tIns="0" rIns="0" bIns="0" rtlCol="0" anchor="t"/>
          <a:lstStyle/>
          <a:p>
            <a:pPr marL="342900" indent="-342900" algn="l">
              <a:lnSpc>
                <a:spcPts val="1950"/>
              </a:lnSpc>
              <a:buSzPct val="100000"/>
              <a:buChar char="•"/>
            </a:pPr>
            <a:r>
              <a:rPr lang="en-US" sz="1350" dirty="0">
                <a:solidFill>
                  <a:srgbClr val="DAD8E9"/>
                </a:solidFill>
                <a:latin typeface="Mukta Light" pitchFamily="34" charset="0"/>
                <a:ea typeface="Mukta Light" pitchFamily="34" charset="-122"/>
                <a:cs typeface="Mukta Light" pitchFamily="34" charset="-120"/>
              </a:rPr>
              <a:t>15-minute creation time</a:t>
            </a:r>
            <a:endParaRPr lang="en-US" sz="1350" dirty="0"/>
          </a:p>
        </p:txBody>
      </p:sp>
      <p:sp>
        <p:nvSpPr>
          <p:cNvPr id="15" name="Text 12"/>
          <p:cNvSpPr/>
          <p:nvPr/>
        </p:nvSpPr>
        <p:spPr>
          <a:xfrm>
            <a:off x="6631781" y="5460444"/>
            <a:ext cx="7117556" cy="587454"/>
          </a:xfrm>
          <a:prstGeom prst="rect">
            <a:avLst/>
          </a:prstGeom>
          <a:noFill/>
          <a:ln/>
        </p:spPr>
        <p:txBody>
          <a:bodyPr wrap="square" lIns="0" tIns="0" rIns="0" bIns="0" rtlCol="0" anchor="t"/>
          <a:lstStyle/>
          <a:p>
            <a:pPr marL="0" indent="0" algn="l">
              <a:lnSpc>
                <a:spcPts val="2300"/>
              </a:lnSpc>
              <a:buNone/>
            </a:pPr>
            <a:r>
              <a:rPr lang="en-US" sz="1850" dirty="0">
                <a:solidFill>
                  <a:srgbClr val="C6BFEE"/>
                </a:solidFill>
                <a:latin typeface="Prompt Medium" pitchFamily="34" charset="0"/>
                <a:ea typeface="Prompt Medium" pitchFamily="34" charset="-122"/>
                <a:cs typeface="Prompt Medium" pitchFamily="34" charset="-120"/>
              </a:rPr>
              <a:t>"Transform your job search with intelligent resume creation that combines AI precision with career consulting expertise."</a:t>
            </a:r>
            <a:endParaRPr lang="en-US" sz="1850" dirty="0"/>
          </a:p>
        </p:txBody>
      </p:sp>
      <p:sp>
        <p:nvSpPr>
          <p:cNvPr id="16" name="Shape 13"/>
          <p:cNvSpPr/>
          <p:nvPr/>
        </p:nvSpPr>
        <p:spPr>
          <a:xfrm>
            <a:off x="6367462" y="5248989"/>
            <a:ext cx="22860" cy="1010364"/>
          </a:xfrm>
          <a:prstGeom prst="rect">
            <a:avLst/>
          </a:prstGeom>
          <a:solidFill>
            <a:srgbClr val="A95B95"/>
          </a:solidFill>
          <a:ln/>
        </p:spPr>
      </p:sp>
      <p:sp>
        <p:nvSpPr>
          <p:cNvPr id="17" name="Text 14"/>
          <p:cNvSpPr/>
          <p:nvPr/>
        </p:nvSpPr>
        <p:spPr>
          <a:xfrm>
            <a:off x="6367462" y="6417945"/>
            <a:ext cx="7381875" cy="1014889"/>
          </a:xfrm>
          <a:prstGeom prst="rect">
            <a:avLst/>
          </a:prstGeom>
          <a:noFill/>
          <a:ln/>
        </p:spPr>
        <p:txBody>
          <a:bodyPr wrap="square" lIns="0" tIns="0" rIns="0" bIns="0" rtlCol="0" anchor="t"/>
          <a:lstStyle/>
          <a:p>
            <a:pPr marL="0" indent="0" algn="l">
              <a:lnSpc>
                <a:spcPts val="1950"/>
              </a:lnSpc>
              <a:buNone/>
            </a:pPr>
            <a:r>
              <a:rPr lang="en-US" sz="1350" dirty="0">
                <a:solidFill>
                  <a:srgbClr val="DAD8E9"/>
                </a:solidFill>
                <a:latin typeface="Mukta Light" pitchFamily="34" charset="0"/>
                <a:ea typeface="Mukta Light" pitchFamily="34" charset="-122"/>
                <a:cs typeface="Mukta Light" pitchFamily="34" charset="-120"/>
              </a:rPr>
              <a:t>Gosh Resume Builder represents the future of professional documentation—where artificial intelligence meets human career aspirations. Whether you're a student taking your first career steps, a fresh graduate entering the competitive job market, or an experienced professional seeking advancement, our platform delivers the tools you need to succeed.</a:t>
            </a:r>
            <a:endParaRPr lang="en-US" sz="1350" dirty="0"/>
          </a:p>
        </p:txBody>
      </p:sp>
      <p:sp>
        <p:nvSpPr>
          <p:cNvPr id="18" name="Rectangle 17">
            <a:extLst>
              <a:ext uri="{FF2B5EF4-FFF2-40B4-BE49-F238E27FC236}">
                <a16:creationId xmlns:a16="http://schemas.microsoft.com/office/drawing/2014/main" id="{5CC1DAFD-E154-97A7-D422-BDFAEC723766}"/>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B64D8-A164-390B-4BFD-19CBD6BBBCA8}"/>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98CE1267-0879-DD82-040E-5014353225A8}"/>
              </a:ext>
            </a:extLst>
          </p:cNvPr>
          <p:cNvSpPr/>
          <p:nvPr/>
        </p:nvSpPr>
        <p:spPr>
          <a:xfrm>
            <a:off x="12865768" y="7753683"/>
            <a:ext cx="1663032" cy="395705"/>
          </a:xfrm>
          <a:prstGeom prst="rect">
            <a:avLst/>
          </a:prstGeom>
          <a:solidFill>
            <a:srgbClr val="0A0B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413670B1-2E1B-977C-BDAA-72D8142BE1E8}"/>
              </a:ext>
            </a:extLst>
          </p:cNvPr>
          <p:cNvSpPr txBox="1"/>
          <p:nvPr/>
        </p:nvSpPr>
        <p:spPr>
          <a:xfrm>
            <a:off x="1582615" y="577767"/>
            <a:ext cx="11465170" cy="2554545"/>
          </a:xfrm>
          <a:prstGeom prst="rect">
            <a:avLst/>
          </a:prstGeom>
          <a:noFill/>
        </p:spPr>
        <p:txBody>
          <a:bodyPr wrap="square" rtlCol="0">
            <a:spAutoFit/>
          </a:bodyPr>
          <a:lstStyle/>
          <a:p>
            <a:r>
              <a:rPr lang="en-US" sz="2000" dirty="0">
                <a:solidFill>
                  <a:schemeClr val="bg1"/>
                </a:solidFill>
              </a:rPr>
              <a:t>Project Link : ( AI Resume Builder and </a:t>
            </a:r>
            <a:r>
              <a:rPr lang="en-US" sz="2000" dirty="0" err="1">
                <a:solidFill>
                  <a:schemeClr val="bg1"/>
                </a:solidFill>
              </a:rPr>
              <a:t>SkillGap</a:t>
            </a:r>
            <a:r>
              <a:rPr lang="en-US" sz="2000" dirty="0">
                <a:solidFill>
                  <a:schemeClr val="bg1"/>
                </a:solidFill>
              </a:rPr>
              <a:t> Analyst)</a:t>
            </a:r>
          </a:p>
          <a:p>
            <a:endParaRPr lang="en-US" sz="2000" dirty="0">
              <a:solidFill>
                <a:schemeClr val="bg1"/>
              </a:solidFill>
            </a:endParaRPr>
          </a:p>
          <a:p>
            <a:r>
              <a:rPr lang="en-US" sz="2000" dirty="0">
                <a:solidFill>
                  <a:schemeClr val="bg1"/>
                </a:solidFill>
                <a:hlinkClick r:id="rId3"/>
              </a:rPr>
              <a:t>https://github.com/GoshRob/Gosh-Resume-Builder.git</a:t>
            </a:r>
            <a:endParaRPr lang="en-US" sz="2000" dirty="0">
              <a:solidFill>
                <a:schemeClr val="bg1"/>
              </a:solidFill>
            </a:endParaRPr>
          </a:p>
          <a:p>
            <a:endParaRPr lang="en-US" sz="2000" dirty="0">
              <a:solidFill>
                <a:schemeClr val="bg1"/>
              </a:solidFill>
            </a:endParaRPr>
          </a:p>
          <a:p>
            <a:r>
              <a:rPr lang="en-US" sz="2000" dirty="0">
                <a:solidFill>
                  <a:schemeClr val="bg1"/>
                </a:solidFill>
              </a:rPr>
              <a:t>Sample Resume made though the Project:</a:t>
            </a:r>
          </a:p>
          <a:p>
            <a:endParaRPr lang="en-US" sz="2000" dirty="0">
              <a:solidFill>
                <a:schemeClr val="bg1"/>
              </a:solidFill>
            </a:endParaRPr>
          </a:p>
          <a:p>
            <a:endParaRPr lang="en-IN" sz="4000" dirty="0">
              <a:solidFill>
                <a:schemeClr val="bg1"/>
              </a:solidFill>
            </a:endParaRPr>
          </a:p>
        </p:txBody>
      </p:sp>
      <p:pic>
        <p:nvPicPr>
          <p:cNvPr id="4" name="Picture 3">
            <a:extLst>
              <a:ext uri="{FF2B5EF4-FFF2-40B4-BE49-F238E27FC236}">
                <a16:creationId xmlns:a16="http://schemas.microsoft.com/office/drawing/2014/main" id="{59643393-9AB2-842A-A02B-8B35EF956077}"/>
              </a:ext>
            </a:extLst>
          </p:cNvPr>
          <p:cNvPicPr>
            <a:picLocks noChangeAspect="1"/>
          </p:cNvPicPr>
          <p:nvPr/>
        </p:nvPicPr>
        <p:blipFill>
          <a:blip r:embed="rId4"/>
          <a:stretch>
            <a:fillRect/>
          </a:stretch>
        </p:blipFill>
        <p:spPr>
          <a:xfrm>
            <a:off x="128953" y="3236108"/>
            <a:ext cx="6662293" cy="3603128"/>
          </a:xfrm>
          <a:prstGeom prst="rect">
            <a:avLst/>
          </a:prstGeom>
        </p:spPr>
      </p:pic>
      <p:pic>
        <p:nvPicPr>
          <p:cNvPr id="6" name="Picture 5">
            <a:extLst>
              <a:ext uri="{FF2B5EF4-FFF2-40B4-BE49-F238E27FC236}">
                <a16:creationId xmlns:a16="http://schemas.microsoft.com/office/drawing/2014/main" id="{CDF56C48-6A71-2D83-F354-CB1E720CBB86}"/>
              </a:ext>
            </a:extLst>
          </p:cNvPr>
          <p:cNvPicPr>
            <a:picLocks noChangeAspect="1"/>
          </p:cNvPicPr>
          <p:nvPr/>
        </p:nvPicPr>
        <p:blipFill>
          <a:blip r:embed="rId5"/>
          <a:stretch>
            <a:fillRect/>
          </a:stretch>
        </p:blipFill>
        <p:spPr>
          <a:xfrm>
            <a:off x="6881446" y="3355342"/>
            <a:ext cx="7748954" cy="3543511"/>
          </a:xfrm>
          <a:prstGeom prst="rect">
            <a:avLst/>
          </a:prstGeom>
        </p:spPr>
      </p:pic>
    </p:spTree>
    <p:extLst>
      <p:ext uri="{BB962C8B-B14F-4D97-AF65-F5344CB8AC3E}">
        <p14:creationId xmlns:p14="http://schemas.microsoft.com/office/powerpoint/2010/main" val="2009726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1191</Words>
  <Application>Microsoft Office PowerPoint</Application>
  <PresentationFormat>Custom</PresentationFormat>
  <Paragraphs>160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Mukta Light</vt:lpstr>
      <vt:lpstr>Prompt Medium</vt:lpstr>
      <vt:lpstr>Arial</vt:lpstr>
      <vt:lpstr>Prompt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Goshen Robert</cp:lastModifiedBy>
  <cp:revision>2</cp:revision>
  <dcterms:created xsi:type="dcterms:W3CDTF">2026-01-16T00:52:15Z</dcterms:created>
  <dcterms:modified xsi:type="dcterms:W3CDTF">2026-01-19T12:00:14Z</dcterms:modified>
</cp:coreProperties>
</file>